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/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</a:rPr>
              <a:t>Second level</a:t>
            </a:r>
            <a:endParaRPr lang="en-US">
              <a:solidFill>
                <a:schemeClr val="tx1"/>
              </a:solidFill>
            </a:endParaRPr>
          </a:p>
          <a:p>
            <a:pPr lvl="2"/>
            <a:r>
              <a:rPr lang="en-US">
                <a:solidFill>
                  <a:schemeClr val="tx1"/>
                </a:solidFill>
              </a:rPr>
              <a:t>Third level</a:t>
            </a:r>
            <a:endParaRPr lang="en-US">
              <a:solidFill>
                <a:schemeClr val="tx1"/>
              </a:solidFill>
            </a:endParaRPr>
          </a:p>
          <a:p>
            <a:pPr lvl="3"/>
            <a:r>
              <a:rPr lang="en-US">
                <a:solidFill>
                  <a:schemeClr val="tx1"/>
                </a:solidFill>
              </a:rPr>
              <a:t>Fourth level</a:t>
            </a:r>
            <a:endParaRPr lang="en-US">
              <a:solidFill>
                <a:schemeClr val="tx1"/>
              </a:solidFill>
            </a:endParaRPr>
          </a:p>
          <a:p>
            <a:pPr lvl="4"/>
            <a:r>
              <a:rPr lang="en-US">
                <a:solidFill>
                  <a:schemeClr val="tx1"/>
                </a:solidFill>
              </a:rPr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各位老师好，我们小组汇报的题目是“机器人系统设计与实现”的软件需求分析阶段成果。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本次汇报围绕已获取的原始需求，说明我们采用的需求建模与分析思路，以及最终形成的需求成果，全程控制在五分钟以内。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11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我们的被开发系统是一台四轮麦克纳姆轮全向移动机器人，以STM32单片机为核心，支持按键和手机蓝牙两种控制方式，并具备速度闭环、自动避障和状态指示能力。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项目开始时，组里提出了这8条原始需求，大家可以看到，其中既有“跑起来”这样的功能目标，也有“PID”“中断”“定时器”这样的实现手段，二者混在一起，不能直接作为需求规格说明书的内容。这就是我们需求分析工作的起点。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7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18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我们选择的是面向对象方法，用UML建模，因为这个系统本质上是“设备加行为”，用例和活动图能精确刻画。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分析主线分六步：从原始需求出发，先识别参与者和用例，再建立用例之间的关系，然后画活动图和状态图，把用例展开为可验证的需求条目，最后建立需求追踪矩阵。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贯穿始终的原则是：只描述系统应获得的结果，不描述获得结果的手段。比如原始需求里写了“PID调速”，我们在需求里只规定收敛时间、稳态误差和超调量这些可验证指标，用什么算法是设计阶段的事。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24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25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一页是用例图。参与者一共三个：左侧的操作者，通过物理按键发起启动、停止、设定目标速度和查看状态指示；左下是手机端的蓝牙串口助手，负责蓝牙遥控；右侧是机器人硬件平台，也就是电机、底盘和传感器——软件向它输出控制指令，它执行动作并回传编码器数据。用例之间的关系上，include 构成主链：启动机器人之后进入机器人运行，运行时执行调节速度，调节速度需要测量速度；设定目标速度同样 include 调节速度，蓝牙遥控 include 建立蓝牙连接。探测并避障是 extend 关系，只在探测到障碍物时才介入，正常运行时不触发。另外说明一处命名：UC-06 叫“查看状态指示”而不是“更新状态指示”，因为指示灯的更新是系统在状态变化时自动完成的，并不是操作者发起的行为，用例应当以参与者的目标来命名。</a:t>
            </a:r>
            <a:endParaRPr lang="en-US"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1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32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一页是系统总体的活动图，描述机器人从上电到退出的完整运行流程。上电后系统初始化、点亮就绪指示灯，然后循环等待启动指令；收到启动或运动指令后点亮运行指示灯，进入运行阶段。运行阶段有一个主循环：按目标速度驱动四个车轮、执行速度闭环调节，然后依次检查四类中止事件——收到停止指令、前方五到八十厘米内探测到障碍物、发生堵转或电池低压或编码器无脉冲、蓝牙连接中断超过五百毫秒。这四类事件是互斥的，同一个控制周期至多命中一个，系统依次检查，命中就执行对应分支的处理。需要强调的是故障分支：停止电机输出、故障指示灯两赫兹闪烁，然后锁存故障、等待人工复位，而复位方式只有一个，就是长按停止键三秒。避障分支停车之后，需要障碍物已经移开、并且满足恢复条件，才延时一秒恢复运行，否则保持停车并持续探测。另外，图中刻意不出现 PID 这样的算法名，只写测量车速、计算偏差、调整输出这类结果性描述，因为算法选择属于概要设计阶段，不属于需求。</a:t>
            </a:r>
            <a:endParaRPr lang="en-US"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8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39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>
              <a:lnSpc>
                <a:spcPct val="108000"/>
              </a:lnSpc>
            </a:pPr>
            <a:r>
              <a:rPr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例展开后共形成44条功能性需求，按8个功能模块组织：运动驱动、车速测量、速度闭环调节、按键控制、状态指示、障碍探测与避障、蓝牙通信、调试信息输出。条目较多，这里不逐条宣读，大家可以在屏幕上看到，每条都有明确的量化指标，比如测速周期不大于20毫秒、调节周期不大于10毫秒、按键响应不大于50毫秒；异常场景也都有规定动作，比如越界设定拒绝、蓝牙断连500毫秒内自动停车、堵转超过500毫秒进入故障态。完整条目和验证方法见报告第4章。</a:t>
            </a:r>
            <a:endParaRPr sz="13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45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46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algn="l">
              <a:lnSpc>
                <a:spcPct val="108000"/>
              </a:lnSpc>
            </a:pPr>
            <a:r>
              <a:rPr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非功能性需求共18条，分为四类。性能上，控制周期抖动不超过正负1毫秒，单次闭环耗时不超过2毫秒，上电2秒内就绪；安全措施是重点，包括9.9伏低压告警、9伏停机、蓝牙断连和堵转自动停车，停止指令在两个通道上始终最高优先级；安全性要求初始化期间关闭电机输出，故障态必须人工复位；质量属性要求连续运行30分钟不失稳，参数可独立修改，局部故障不影响其他模块。右侧是四种互斥运行状态，故障态唯一的出口是长按停止键3秒复位。至此，所有需求都可验证、可追溯。</a:t>
            </a:r>
            <a:endParaRPr sz="13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2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53" name="Slide Image Placeholder 3"/>
          <p:cNvSpPr>
            <a:spLocks noGrp="1"/>
          </p:cNvSpPr>
          <p:nvPr>
            <p:ph type="sldImg" sz="quarter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小结一下：我们的分析工作有一条清晰主线——8条口头设想，经过UML建模形成10个用例和三类模型，最终展开为44条功能性需求和18条非功能性需求。整个过程的核心认识是：需求阶段只规定系统应达到什么结果，不规定用什么手段达到；并且所有需求都必须可验证、可追溯。我们的汇报到此结束，恳请各位老师批评指正，谢谢！</a:t>
            </a:r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 hasCustomPrompt="1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&lt;#&gt;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b">
            <a:normAutofit/>
          </a:bodyPr>
          <a:lstStyle>
            <a:lvl1pPr algn="ctr">
              <a:lnSpc>
                <a:spcPct val="90000"/>
              </a:lnSpc>
              <a:buNone/>
              <a:defRPr sz="4500"/>
            </a:lvl1pPr>
          </a:lstStyle>
          <a:p>
            <a:pPr marR="0" algn="ctr">
              <a:lnSpc>
                <a:spcPct val="90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45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2"/>
          <p:cNvSpPr txBox="1">
            <a:spLocks noGrp="1"/>
          </p:cNvSpPr>
          <p:nvPr>
            <p:ph type="subTitle" sz="quarter" idx="1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ctr">
              <a:lnSpc>
                <a:spcPct val="90000"/>
              </a:lnSpc>
              <a:buNone/>
              <a:defRPr sz="1800"/>
            </a:lvl1pPr>
          </a:lstStyle>
          <a:p>
            <a:pPr marL="457200" marR="0" indent="-361950" algn="ctr">
              <a:lnSpc>
                <a:spcPct val="90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单击此处添加副标题</a:t>
            </a:r>
            <a:endParaRPr lang="en-US" sz="18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5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2C825EE6-813F-4A6E-9757-26E9097213BA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BJECT"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Text Box 5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71ECEAFB-7D6C-4E36-B602-A29988AE9F97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HEADER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0000"/>
              </a:lnSpc>
              <a:buNone/>
              <a:defRPr sz="4500"/>
            </a:lvl1pPr>
          </a:lstStyle>
          <a:p>
            <a:pPr marR="0" algn="l">
              <a:lnSpc>
                <a:spcPct val="90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45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Text Box 5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1ED0E0D9-F8D6-431E-A56E-B08A0096BB04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_OBJECTS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Text Box 6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7347418A-98BA-44D0-B07B-794602400882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_OBJECTS_WITH_TEX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0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1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Text Box 4"/>
          <p:cNvSpPr txBox="1"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0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1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Text Box 5"/>
          <p:cNvSpPr txBox="1">
            <a:spLocks noGrp="1"/>
          </p:cNvSpPr>
          <p:nvPr>
            <p:ph type="body" sz="quarter" idx="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Text Box 6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" name="Text Box 7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" name="Text Box 8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95B9C594-BFF9-44F2-98D6-84B6EF7B14E4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ONLY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Text Box 2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" name="Text Box 3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" name="Text Box 4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B9C9B001-B5F2-4638-8497-AB3E897BE8EC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 1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9" name="Text Box 2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0" name="Text Box 3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2AA8A3F3-9A2F-4AB1-9FF9-AC292B716356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BJECT_WITH_CAPTION_TEX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0000"/>
              </a:lnSpc>
              <a:buNone/>
              <a:defRPr sz="2400"/>
            </a:lvl1pPr>
          </a:lstStyle>
          <a:p>
            <a:pPr marR="0" algn="l">
              <a:lnSpc>
                <a:spcPct val="90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400"/>
            </a:lvl1pPr>
          </a:lstStyle>
          <a:p>
            <a:pPr marL="457200" marR="0" indent="-381000" algn="l">
              <a:lnSpc>
                <a:spcPct val="90000"/>
              </a:lnSpc>
              <a:spcBef>
                <a:spcPts val="8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1200"/>
            </a:lvl1pPr>
          </a:lstStyle>
          <a:p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2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6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" name="Text Box 6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2077CF36-5007-4F5B-A47C-6CB3CEB4D3F1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_WITH_CAPTION_TEXT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0000"/>
              </a:lnSpc>
              <a:buNone/>
              <a:defRPr sz="2400"/>
            </a:lvl1pPr>
          </a:lstStyle>
          <a:p>
            <a:pPr marR="0" algn="l">
              <a:lnSpc>
                <a:spcPct val="90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" name="Auto Shape 2"/>
          <p:cNvSpPr>
            <a:spLocks noGrp="1"/>
          </p:cNvSpPr>
          <p:nvPr>
            <p:ph type="pic" sz="quarter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ln w="12700">
            <a:noFill/>
          </a:ln>
        </p:spPr>
        <p:txBody>
          <a:bodyPr/>
          <a:lstStyle/>
          <a:p/>
        </p:txBody>
      </p:sp>
      <p:sp>
        <p:nvSpPr>
          <p:cNvPr id="61" name="Text Box 3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1200"/>
            </a:lvl1pPr>
          </a:lstStyle>
          <a:p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2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" name="Text Box 6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D2C38DA6-FAE9-4B27-8092-15A495A23CC2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_TEXT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Text Box 2"/>
          <p:cNvSpPr txBox="1">
            <a:spLocks noGrp="1"/>
          </p:cNvSpPr>
          <p:nvPr>
            <p:ph type="body" sz="quarter" idx="1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9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0" name="Text Box 5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F6F9A792-491E-4C2D-9FBE-8D71CBE1AA79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_TITLE_AND_VERTICAL_TEXT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"/>
          <p:cNvSpPr txBox="1">
            <a:spLocks noGrp="1"/>
          </p:cNvSpPr>
          <p:nvPr>
            <p:ph type="title" sz="quarter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0000"/>
              </a:lnSpc>
              <a:buNone/>
              <a:defRPr sz="3300"/>
            </a:lvl1pPr>
          </a:lstStyle>
          <a:p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Text Box 2"/>
          <p:cNvSpPr txBox="1">
            <a:spLocks noGrp="1"/>
          </p:cNvSpPr>
          <p:nvPr>
            <p:ph type="body" sz="quarter" idx="1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0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Text Box 5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EB63C4B3-52F7-4E3A-B351-23D5FC512774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100000"/>
              </a:lnSpc>
              <a:buNone/>
              <a:defRPr sz="3300"/>
            </a:lvl1pPr>
          </a:lstStyle>
          <a:p>
            <a:pPr marR="0" algn="l">
              <a:lnSpc>
                <a:spcPct val="10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100000"/>
              </a:lnSpc>
              <a:buNone/>
              <a:defRPr sz="2100"/>
            </a:lvl1pPr>
          </a:lstStyle>
          <a:p>
            <a:pPr marR="0" algn="l">
              <a:lnSpc>
                <a:spcPct val="100000"/>
              </a:lnSpc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fld id="{0044D197-8D50-4E16-8CCB-75CF4384F858}" type="slidenum">
              <a:rPr lang="zh-CN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zh-CN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round/>
          </a:ln>
        </p:spPr>
      </p:pic>
      <p:sp>
        <p:nvSpPr>
          <p:cNvPr id="3" name="Text Box 2"/>
          <p:cNvSpPr txBox="1">
            <a:spLocks noGrp="1"/>
          </p:cNvSpPr>
          <p:nvPr/>
        </p:nvSpPr>
        <p:spPr>
          <a:xfrm>
            <a:off x="914400" y="1879600"/>
            <a:ext cx="7112000" cy="330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SOFTWARE REQUIREMENTS ANALYSIS</a:t>
            </a:r>
            <a:endParaRPr lang="en-US" sz="12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ext Box 3"/>
          <p:cNvSpPr txBox="1">
            <a:spLocks noGrp="1"/>
          </p:cNvSpPr>
          <p:nvPr/>
        </p:nvSpPr>
        <p:spPr>
          <a:xfrm>
            <a:off x="889000" y="2235200"/>
            <a:ext cx="7874000" cy="1422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93000"/>
              </a:lnSpc>
            </a:pPr>
            <a:r>
              <a:rPr lang="en-US" sz="44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机器人系统</a:t>
            </a:r>
            <a:endParaRPr lang="en-US" sz="44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ct val="93000"/>
              </a:lnSpc>
            </a:pPr>
            <a:r>
              <a:rPr lang="en-US" sz="44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设计与实现</a:t>
            </a:r>
            <a:endParaRPr lang="en-US" sz="44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5" name="Connector"/>
          <p:cNvCxnSpPr/>
          <p:nvPr/>
        </p:nvCxnSpPr>
        <p:spPr>
          <a:xfrm rot="-53710">
            <a:off x="914450" y="3778250"/>
            <a:ext cx="812800" cy="12700"/>
          </a:xfrm>
          <a:prstGeom prst="straightConnector1">
            <a:avLst/>
          </a:prstGeom>
          <a:solidFill>
            <a:srgbClr val="DEE0E3"/>
          </a:solidFill>
          <a:ln w="38100" cap="flat" cmpd="sng">
            <a:solidFill>
              <a:srgbClr val="0F6E56"/>
            </a:solidFill>
            <a:round/>
          </a:ln>
        </p:spPr>
      </p:cxnSp>
      <p:sp>
        <p:nvSpPr>
          <p:cNvPr id="6" name="Text Box 5"/>
          <p:cNvSpPr txBox="1">
            <a:spLocks noGrp="1"/>
          </p:cNvSpPr>
          <p:nvPr/>
        </p:nvSpPr>
        <p:spPr>
          <a:xfrm>
            <a:off x="889000" y="3962400"/>
            <a:ext cx="6350000" cy="482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2200" b="1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软件需求分析阶段汇报</a:t>
            </a:r>
            <a:endParaRPr lang="en-US" sz="2200" b="1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Text Box 6"/>
          <p:cNvSpPr txBox="1">
            <a:spLocks noGrp="1"/>
          </p:cNvSpPr>
          <p:nvPr/>
        </p:nvSpPr>
        <p:spPr>
          <a:xfrm>
            <a:off x="889000" y="5740400"/>
            <a:ext cx="7112000" cy="330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13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软件需求分析阶段汇报　|　2026 年 10 月</a:t>
            </a:r>
            <a:endParaRPr lang="en-US" sz="13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/>
        </a:solidFill>
        <a:effectLst/>
      </p:bgPr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/>
          <p:cNvSpPr txBox="1">
            <a:spLocks noGrp="1"/>
          </p:cNvSpPr>
          <p:nvPr/>
        </p:nvSpPr>
        <p:spPr>
          <a:xfrm>
            <a:off x="609600" y="406400"/>
            <a:ext cx="762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项目背景与原始需求</a:t>
            </a:r>
            <a:endParaRPr lang="en-US" sz="24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Text Box 2"/>
          <p:cNvSpPr txBox="1">
            <a:spLocks noGrp="1"/>
          </p:cNvSpPr>
          <p:nvPr/>
        </p:nvSpPr>
        <p:spPr>
          <a:xfrm>
            <a:off x="8128000" y="508000"/>
            <a:ext cx="34544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r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　BACKGROUND &amp; REQUIREMENTS</a:t>
            </a:r>
            <a:endParaRPr lang="en-US" sz="11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1" name="Connector"/>
          <p:cNvCxnSpPr/>
          <p:nvPr/>
        </p:nvCxnSpPr>
        <p:spPr>
          <a:xfrm rot="-3978">
            <a:off x="609604" y="1009650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12" name="Text Box 4"/>
          <p:cNvSpPr txBox="1">
            <a:spLocks noGrp="1"/>
          </p:cNvSpPr>
          <p:nvPr/>
        </p:nvSpPr>
        <p:spPr>
          <a:xfrm>
            <a:off x="609600" y="1219200"/>
            <a:ext cx="10972800" cy="660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3C4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本系统是一台以 STM32F103 微控制器为核心的</a:t>
            </a:r>
            <a:r>
              <a:rPr lang="en-US" sz="1400" b="1" i="0" u="none" strike="noStrike" spc="0">
                <a:solidFill>
                  <a:srgbClr val="3C4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四轮麦克纳姆轮全向移动机器人</a:t>
            </a:r>
            <a:r>
              <a:rPr lang="en-US" sz="1400" b="0" i="0" u="none" strike="noStrike" spc="0">
                <a:solidFill>
                  <a:srgbClr val="3C48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，支持按键与手机蓝牙双通道控制，具备编码器测速、速度闭环调节、前方自动避障与运行状态指示能力。</a:t>
            </a:r>
            <a:endParaRPr lang="en-US" sz="1400" b="0" i="0" u="none" strike="noStrike" spc="0">
              <a:solidFill>
                <a:srgbClr val="3C48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13" name="Table"/>
          <p:cNvGraphicFramePr/>
          <p:nvPr/>
        </p:nvGraphicFramePr>
        <p:xfrm>
          <a:off x="609600" y="2006600"/>
          <a:ext cx="10972800" cy="3200400"/>
        </p:xfrm>
        <a:graphic>
          <a:graphicData uri="http://schemas.openxmlformats.org/drawingml/2006/table">
            <a:tbl>
              <a:tblPr/>
              <a:tblGrid>
                <a:gridCol w="889000"/>
                <a:gridCol w="10083800"/>
              </a:tblGrid>
              <a:tr h="431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序号</a:t>
                      </a:r>
                      <a:endParaRPr lang="en-US" sz="1300" b="1" i="0" u="none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1" i="0" u="none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项目组提出的原始需求表述</a:t>
                      </a:r>
                      <a:endParaRPr lang="en-US" sz="1300" b="1" i="0" u="none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6E5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</a:t>
                      </a:r>
                      <a:endParaRPr lang="en-US" sz="1300" b="0" i="0" u="none" strike="noStrike" spc="0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组装小车并让小车跑起来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</a:t>
                      </a:r>
                      <a:endParaRPr lang="en-US" sz="1300" b="0" i="0" u="none" strike="noStrike" spc="0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实现编码器对车轮测速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3E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3</a:t>
                      </a:r>
                      <a:endParaRPr lang="en-US" sz="1300" b="0" i="0" u="none" strike="noStrike" spc="0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闭环 PID 调速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4</a:t>
                      </a:r>
                      <a:endParaRPr lang="en-US" sz="1300" b="0" i="0" u="none" strike="noStrike" spc="0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支持按键中断启停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3E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5</a:t>
                      </a:r>
                      <a:endParaRPr lang="en-US" sz="1300" b="0" i="0" u="none" strike="noStrike" spc="0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定时器精准时序控制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6</a:t>
                      </a:r>
                      <a:endParaRPr lang="en-US" sz="1300" b="0" i="0" u="none" strike="noStrike" spc="0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状态灯光同步提示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3E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7</a:t>
                      </a:r>
                      <a:endParaRPr lang="en-US" sz="1300" b="0" i="0" u="none" strike="noStrike" spc="0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避障（选做）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8</a:t>
                      </a:r>
                      <a:endParaRPr lang="en-US" sz="1300" b="0" i="0" u="none" strike="noStrike" spc="0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蓝牙操控板块（手机端“蓝牙串口助手”远程操控）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3ED"/>
                    </a:solidFill>
                  </a:tcPr>
                </a:tc>
              </a:tr>
            </a:tbl>
          </a:graphicData>
        </a:graphic>
      </p:graphicFrame>
      <p:sp>
        <p:nvSpPr>
          <p:cNvPr id="14" name="Auto Shape 6"/>
          <p:cNvSpPr>
            <a:spLocks noGrp="1"/>
          </p:cNvSpPr>
          <p:nvPr/>
        </p:nvSpPr>
        <p:spPr>
          <a:xfrm>
            <a:off x="609600" y="5461000"/>
            <a:ext cx="10972800" cy="711200"/>
          </a:xfrm>
          <a:prstGeom prst="roundRect">
            <a:avLst>
              <a:gd name="adj" fmla="val 0"/>
            </a:avLst>
          </a:prstGeom>
          <a:solidFill>
            <a:srgbClr val="E1F5EE"/>
          </a:solidFill>
          <a:ln w="12700" cap="flat" cmpd="sng">
            <a:solidFill>
              <a:srgbClr val="0F6E56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Text Box 7"/>
          <p:cNvSpPr txBox="1">
            <a:spLocks noGrp="1"/>
          </p:cNvSpPr>
          <p:nvPr/>
        </p:nvSpPr>
        <p:spPr>
          <a:xfrm>
            <a:off x="838200" y="5562600"/>
            <a:ext cx="105156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13000"/>
              </a:lnSpc>
            </a:pPr>
            <a:r>
              <a:rPr lang="en-US" sz="13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问题：</a:t>
            </a:r>
            <a:r>
              <a:rPr lang="en-US" sz="1300" b="0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原始需求是口头设想，混合了功能目标（如“跑起来”）与实现手段（如“PID”“中断”“定时器”），无法直接作为需求规格，必须经过规范化处理。</a:t>
            </a:r>
            <a:endParaRPr lang="en-US" sz="1300" b="0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6" name="Connector"/>
          <p:cNvCxnSpPr/>
          <p:nvPr/>
        </p:nvCxnSpPr>
        <p:spPr>
          <a:xfrm rot="-3978">
            <a:off x="609604" y="6445250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17" name="Text Box 9"/>
          <p:cNvSpPr txBox="1">
            <a:spLocks noGrp="1"/>
          </p:cNvSpPr>
          <p:nvPr/>
        </p:nvSpPr>
        <p:spPr>
          <a:xfrm>
            <a:off x="609600" y="6502400"/>
            <a:ext cx="5080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机器人系统设计与实现　·　软件需求分析</a:t>
            </a:r>
            <a:endParaRPr lang="en-US"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Text Box 10"/>
          <p:cNvSpPr txBox="1">
            <a:spLocks noGrp="1"/>
          </p:cNvSpPr>
          <p:nvPr/>
        </p:nvSpPr>
        <p:spPr>
          <a:xfrm>
            <a:off x="10414000" y="6502400"/>
            <a:ext cx="11684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r">
              <a:buNone/>
              <a:defRPr sz="1000" b="0" i="0" u="none" strike="noStrike">
                <a:solidFill>
                  <a:srgbClr val="828E87"/>
                </a:solidFill>
                <a:latin typeface="微软雅黑" panose="020B0503020204020204" charset="-122"/>
              </a:defRPr>
            </a:lvl1pPr>
          </a:lstStyle>
          <a:p>
            <a:pPr marL="0" marR="0" algn="r"/>
            <a:r>
              <a:rPr lang="zh-CN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/ 08</a:t>
            </a:r>
            <a:endParaRPr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"/>
          <p:cNvSpPr txBox="1">
            <a:spLocks noGrp="1"/>
          </p:cNvSpPr>
          <p:nvPr/>
        </p:nvSpPr>
        <p:spPr>
          <a:xfrm>
            <a:off x="609600" y="406400"/>
            <a:ext cx="762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需求分析方法与思路</a:t>
            </a:r>
            <a:endParaRPr lang="en-US" sz="24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Text Box 2"/>
          <p:cNvSpPr txBox="1">
            <a:spLocks noGrp="1"/>
          </p:cNvSpPr>
          <p:nvPr/>
        </p:nvSpPr>
        <p:spPr>
          <a:xfrm>
            <a:off x="8128000" y="508000"/>
            <a:ext cx="34544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r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　ANALYSIS APPROACH</a:t>
            </a:r>
            <a:endParaRPr lang="en-US" sz="11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2" name="Connector"/>
          <p:cNvCxnSpPr/>
          <p:nvPr/>
        </p:nvCxnSpPr>
        <p:spPr>
          <a:xfrm rot="-3978">
            <a:off x="609604" y="1009650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23" name="Auto Shape 4"/>
          <p:cNvSpPr>
            <a:spLocks noGrp="1"/>
          </p:cNvSpPr>
          <p:nvPr/>
        </p:nvSpPr>
        <p:spPr>
          <a:xfrm>
            <a:off x="609600" y="1219200"/>
            <a:ext cx="965200" cy="304800"/>
          </a:xfrm>
          <a:prstGeom prst="roundRect">
            <a:avLst>
              <a:gd name="adj" fmla="val 0"/>
            </a:avLst>
          </a:prstGeom>
          <a:solidFill>
            <a:srgbClr val="0F6E56"/>
          </a:solidFill>
          <a:ln w="127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Text Box 5"/>
          <p:cNvSpPr txBox="1">
            <a:spLocks noGrp="1"/>
          </p:cNvSpPr>
          <p:nvPr/>
        </p:nvSpPr>
        <p:spPr>
          <a:xfrm>
            <a:off x="609600" y="1219200"/>
            <a:ext cx="9652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分析方法</a:t>
            </a:r>
            <a:endParaRPr lang="en-US" sz="1200" b="1" i="0" u="none" strike="noStrik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Text Box 6"/>
          <p:cNvSpPr txBox="1">
            <a:spLocks noGrp="1"/>
          </p:cNvSpPr>
          <p:nvPr/>
        </p:nvSpPr>
        <p:spPr>
          <a:xfrm>
            <a:off x="1727200" y="1193800"/>
            <a:ext cx="98552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面向对象方法（UML 建模）</a:t>
            </a:r>
            <a:r>
              <a:rPr lang="en-US" sz="14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系统本质是“设备 + 行为”，适合用用例与行为模型精确刻画</a:t>
            </a:r>
            <a:endParaRPr lang="en-US" sz="14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Auto Shape 7"/>
          <p:cNvSpPr>
            <a:spLocks noGrp="1"/>
          </p:cNvSpPr>
          <p:nvPr/>
        </p:nvSpPr>
        <p:spPr>
          <a:xfrm>
            <a:off x="609600" y="1778000"/>
            <a:ext cx="965200" cy="304800"/>
          </a:xfrm>
          <a:prstGeom prst="roundRect">
            <a:avLst>
              <a:gd name="adj" fmla="val 0"/>
            </a:avLst>
          </a:prstGeom>
          <a:solidFill>
            <a:srgbClr val="0F6E56"/>
          </a:solidFill>
          <a:ln w="127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" name="Text Box 8"/>
          <p:cNvSpPr txBox="1">
            <a:spLocks noGrp="1"/>
          </p:cNvSpPr>
          <p:nvPr/>
        </p:nvSpPr>
        <p:spPr>
          <a:xfrm>
            <a:off x="609600" y="1778000"/>
            <a:ext cx="9652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分析主线</a:t>
            </a:r>
            <a:endParaRPr lang="en-US" sz="1200" b="1" i="0" u="none" strike="noStrik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Auto Shape 9"/>
          <p:cNvSpPr>
            <a:spLocks noGrp="1"/>
          </p:cNvSpPr>
          <p:nvPr/>
        </p:nvSpPr>
        <p:spPr>
          <a:xfrm>
            <a:off x="635000" y="2260600"/>
            <a:ext cx="1651000" cy="965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0F6E56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Text Box 10"/>
          <p:cNvSpPr txBox="1">
            <a:spLocks noGrp="1"/>
          </p:cNvSpPr>
          <p:nvPr/>
        </p:nvSpPr>
        <p:spPr>
          <a:xfrm>
            <a:off x="635000" y="2260600"/>
            <a:ext cx="1651000" cy="965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08000"/>
              </a:lnSpc>
            </a:pPr>
            <a:r>
              <a:rPr lang="en-US" sz="12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2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ctr">
              <a:lnSpc>
                <a:spcPct val="108000"/>
              </a:lnSpc>
            </a:pPr>
            <a:r>
              <a:rPr lang="en-US" sz="12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原始需求</a:t>
            </a:r>
            <a:endParaRPr lang="en-US" sz="12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Auto Shape 11"/>
          <p:cNvSpPr>
            <a:spLocks noGrp="1"/>
          </p:cNvSpPr>
          <p:nvPr/>
        </p:nvSpPr>
        <p:spPr>
          <a:xfrm>
            <a:off x="2489200" y="2260600"/>
            <a:ext cx="1651000" cy="965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0F6E56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Text Box 12"/>
          <p:cNvSpPr txBox="1">
            <a:spLocks noGrp="1"/>
          </p:cNvSpPr>
          <p:nvPr/>
        </p:nvSpPr>
        <p:spPr>
          <a:xfrm>
            <a:off x="2489200" y="2260600"/>
            <a:ext cx="1651000" cy="965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08000"/>
              </a:lnSpc>
            </a:pPr>
            <a:r>
              <a:rPr lang="en-US" sz="12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2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ctr">
              <a:lnSpc>
                <a:spcPct val="108000"/>
              </a:lnSpc>
            </a:pPr>
            <a:r>
              <a:rPr lang="en-US" sz="12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识别参与者与用例</a:t>
            </a:r>
            <a:endParaRPr lang="en-US" sz="12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" name="Auto Shape 13"/>
          <p:cNvSpPr>
            <a:spLocks noGrp="1"/>
          </p:cNvSpPr>
          <p:nvPr/>
        </p:nvSpPr>
        <p:spPr>
          <a:xfrm>
            <a:off x="4343400" y="2260600"/>
            <a:ext cx="1651000" cy="965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0F6E56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Text Box 14"/>
          <p:cNvSpPr txBox="1">
            <a:spLocks noGrp="1"/>
          </p:cNvSpPr>
          <p:nvPr/>
        </p:nvSpPr>
        <p:spPr>
          <a:xfrm>
            <a:off x="4343400" y="2260600"/>
            <a:ext cx="1651000" cy="965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08000"/>
              </a:lnSpc>
            </a:pPr>
            <a:r>
              <a:rPr lang="en-US" sz="12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2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ctr">
              <a:lnSpc>
                <a:spcPct val="108000"/>
              </a:lnSpc>
            </a:pPr>
            <a:r>
              <a:rPr lang="en-US" sz="12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建立用例关系</a:t>
            </a:r>
            <a:endParaRPr lang="en-US" sz="12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4" name="Auto Shape 15"/>
          <p:cNvSpPr>
            <a:spLocks noGrp="1"/>
          </p:cNvSpPr>
          <p:nvPr/>
        </p:nvSpPr>
        <p:spPr>
          <a:xfrm>
            <a:off x="6197600" y="2260600"/>
            <a:ext cx="1651000" cy="965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0F6E56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" name="Text Box 16"/>
          <p:cNvSpPr txBox="1">
            <a:spLocks noGrp="1"/>
          </p:cNvSpPr>
          <p:nvPr/>
        </p:nvSpPr>
        <p:spPr>
          <a:xfrm>
            <a:off x="6197600" y="2260600"/>
            <a:ext cx="1651000" cy="965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08000"/>
              </a:lnSpc>
            </a:pPr>
            <a:r>
              <a:rPr lang="en-US" sz="12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2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ctr">
              <a:lnSpc>
                <a:spcPct val="108000"/>
              </a:lnSpc>
            </a:pPr>
            <a:r>
              <a:rPr lang="en-US" sz="12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活动图与状态图</a:t>
            </a:r>
            <a:endParaRPr lang="en-US" sz="12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" name="Auto Shape 17"/>
          <p:cNvSpPr>
            <a:spLocks noGrp="1"/>
          </p:cNvSpPr>
          <p:nvPr/>
        </p:nvSpPr>
        <p:spPr>
          <a:xfrm>
            <a:off x="8051800" y="2260600"/>
            <a:ext cx="1651000" cy="965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0F6E56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Text Box 18"/>
          <p:cNvSpPr txBox="1">
            <a:spLocks noGrp="1"/>
          </p:cNvSpPr>
          <p:nvPr/>
        </p:nvSpPr>
        <p:spPr>
          <a:xfrm>
            <a:off x="8051800" y="2260600"/>
            <a:ext cx="1651000" cy="965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08000"/>
              </a:lnSpc>
            </a:pPr>
            <a:r>
              <a:rPr lang="en-US" sz="12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</a:t>
            </a:r>
            <a:endParaRPr lang="en-US" sz="12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ctr">
              <a:lnSpc>
                <a:spcPct val="108000"/>
              </a:lnSpc>
            </a:pPr>
            <a:r>
              <a:rPr lang="en-US" sz="12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展开为可验证需求</a:t>
            </a:r>
            <a:endParaRPr lang="en-US" sz="12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8" name="Auto Shape 19"/>
          <p:cNvSpPr>
            <a:spLocks noGrp="1"/>
          </p:cNvSpPr>
          <p:nvPr/>
        </p:nvSpPr>
        <p:spPr>
          <a:xfrm>
            <a:off x="9906000" y="2260600"/>
            <a:ext cx="1651000" cy="965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0F6E56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Text Box 20"/>
          <p:cNvSpPr txBox="1">
            <a:spLocks noGrp="1"/>
          </p:cNvSpPr>
          <p:nvPr/>
        </p:nvSpPr>
        <p:spPr>
          <a:xfrm>
            <a:off x="9906000" y="2260600"/>
            <a:ext cx="1651000" cy="965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08000"/>
              </a:lnSpc>
            </a:pPr>
            <a:r>
              <a:rPr lang="en-US" sz="12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</a:t>
            </a:r>
            <a:endParaRPr lang="en-US" sz="12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ctr">
              <a:lnSpc>
                <a:spcPct val="108000"/>
              </a:lnSpc>
            </a:pPr>
            <a:r>
              <a:rPr lang="en-US" sz="12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需求追踪矩阵</a:t>
            </a:r>
            <a:endParaRPr lang="en-US" sz="12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0" name="Connector"/>
          <p:cNvCxnSpPr/>
          <p:nvPr/>
        </p:nvCxnSpPr>
        <p:spPr>
          <a:xfrm rot="-285818">
            <a:off x="2311664" y="2736850"/>
            <a:ext cx="1524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0F6E56"/>
            </a:solidFill>
            <a:round/>
            <a:tailEnd type="arrow" w="sm" len="sm"/>
          </a:ln>
        </p:spPr>
      </p:cxnSp>
      <p:cxnSp>
        <p:nvCxnSpPr>
          <p:cNvPr id="41" name="Connector"/>
          <p:cNvCxnSpPr/>
          <p:nvPr/>
        </p:nvCxnSpPr>
        <p:spPr>
          <a:xfrm rot="-285818">
            <a:off x="4165864" y="2736850"/>
            <a:ext cx="1524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0F6E56"/>
            </a:solidFill>
            <a:round/>
            <a:tailEnd type="arrow" w="sm" len="sm"/>
          </a:ln>
        </p:spPr>
      </p:cxnSp>
      <p:cxnSp>
        <p:nvCxnSpPr>
          <p:cNvPr id="42" name="Connector"/>
          <p:cNvCxnSpPr/>
          <p:nvPr/>
        </p:nvCxnSpPr>
        <p:spPr>
          <a:xfrm rot="-285818">
            <a:off x="6020064" y="2736850"/>
            <a:ext cx="1524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0F6E56"/>
            </a:solidFill>
            <a:round/>
            <a:tailEnd type="arrow" w="sm" len="sm"/>
          </a:ln>
        </p:spPr>
      </p:cxnSp>
      <p:cxnSp>
        <p:nvCxnSpPr>
          <p:cNvPr id="43" name="Connector"/>
          <p:cNvCxnSpPr/>
          <p:nvPr/>
        </p:nvCxnSpPr>
        <p:spPr>
          <a:xfrm rot="-285818">
            <a:off x="7874264" y="2736850"/>
            <a:ext cx="1524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0F6E56"/>
            </a:solidFill>
            <a:round/>
            <a:tailEnd type="arrow" w="sm" len="sm"/>
          </a:ln>
        </p:spPr>
      </p:cxnSp>
      <p:cxnSp>
        <p:nvCxnSpPr>
          <p:cNvPr id="44" name="Connector"/>
          <p:cNvCxnSpPr/>
          <p:nvPr/>
        </p:nvCxnSpPr>
        <p:spPr>
          <a:xfrm rot="-285818">
            <a:off x="9728464" y="2736850"/>
            <a:ext cx="1524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0F6E56"/>
            </a:solidFill>
            <a:round/>
            <a:tailEnd type="arrow" w="sm" len="sm"/>
          </a:ln>
        </p:spPr>
      </p:cxnSp>
      <p:sp>
        <p:nvSpPr>
          <p:cNvPr id="45" name="Auto Shape 26"/>
          <p:cNvSpPr>
            <a:spLocks noGrp="1"/>
          </p:cNvSpPr>
          <p:nvPr/>
        </p:nvSpPr>
        <p:spPr>
          <a:xfrm>
            <a:off x="609600" y="3606800"/>
            <a:ext cx="965200" cy="304800"/>
          </a:xfrm>
          <a:prstGeom prst="roundRect">
            <a:avLst>
              <a:gd name="adj" fmla="val 0"/>
            </a:avLst>
          </a:prstGeom>
          <a:solidFill>
            <a:srgbClr val="0F6E56"/>
          </a:solidFill>
          <a:ln w="127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" name="Text Box 27"/>
          <p:cNvSpPr txBox="1">
            <a:spLocks noGrp="1"/>
          </p:cNvSpPr>
          <p:nvPr/>
        </p:nvSpPr>
        <p:spPr>
          <a:xfrm>
            <a:off x="609600" y="3606800"/>
            <a:ext cx="9652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核心原则</a:t>
            </a:r>
            <a:endParaRPr lang="en-US" sz="1200" b="1" i="0" u="none" strike="noStrik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7" name="Text Box 28"/>
          <p:cNvSpPr txBox="1">
            <a:spLocks noGrp="1"/>
          </p:cNvSpPr>
          <p:nvPr/>
        </p:nvSpPr>
        <p:spPr>
          <a:xfrm>
            <a:off x="1727200" y="3581400"/>
            <a:ext cx="9855200" cy="355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只描述系统应获得的结果，不描述获得结果的手段</a:t>
            </a:r>
            <a:endParaRPr lang="en-US" sz="15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48" name="Table"/>
          <p:cNvGraphicFramePr/>
          <p:nvPr/>
        </p:nvGraphicFramePr>
        <p:xfrm>
          <a:off x="609600" y="4114800"/>
          <a:ext cx="10972800" cy="1955800"/>
        </p:xfrm>
        <a:graphic>
          <a:graphicData uri="http://schemas.openxmlformats.org/drawingml/2006/table">
            <a:tbl>
              <a:tblPr/>
              <a:tblGrid>
                <a:gridCol w="3556000"/>
                <a:gridCol w="7416800"/>
              </a:tblGrid>
              <a:tr h="431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原始表述（包含实现手段）</a:t>
                      </a:r>
                      <a:endParaRPr lang="en-US" sz="1200" b="1" i="0" u="none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需求阶段的改写（只规定可验证的结果）</a:t>
                      </a:r>
                      <a:endParaRPr lang="en-US" sz="1200" b="1" i="0" u="none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6E5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闭环 PID 调速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速度闭环调节：收敛时间 ≤1.5 s、稳态误差 ≤5%、超调量 ≤10%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按键中断启停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按键启停：按键响应延迟 ≤50 ms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3E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定时器精准时序控制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 spc="0">
                          <a:solidFill>
                            <a:srgbClr val="1F2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　时序性能指标：控制周期 ≤10 ms、周期抖动 ≤±1 ms</a:t>
                      </a:r>
                      <a:endParaRPr lang="en-US" sz="1300" b="0" i="0" u="none" strike="noStrike" spc="0">
                        <a:solidFill>
                          <a:srgbClr val="1F2A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49" name="Connector"/>
          <p:cNvCxnSpPr/>
          <p:nvPr/>
        </p:nvCxnSpPr>
        <p:spPr>
          <a:xfrm rot="-3978">
            <a:off x="609604" y="6445250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50" name="Text Box 31"/>
          <p:cNvSpPr txBox="1">
            <a:spLocks noGrp="1"/>
          </p:cNvSpPr>
          <p:nvPr/>
        </p:nvSpPr>
        <p:spPr>
          <a:xfrm>
            <a:off x="609600" y="6502400"/>
            <a:ext cx="5080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机器人系统设计与实现　·　软件需求分析</a:t>
            </a:r>
            <a:endParaRPr lang="en-US"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1" name="Text Box 32"/>
          <p:cNvSpPr txBox="1">
            <a:spLocks noGrp="1"/>
          </p:cNvSpPr>
          <p:nvPr/>
        </p:nvSpPr>
        <p:spPr>
          <a:xfrm>
            <a:off x="10414000" y="6502400"/>
            <a:ext cx="11684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r">
              <a:buNone/>
              <a:defRPr sz="1000" b="0" i="0" u="none" strike="noStrike">
                <a:solidFill>
                  <a:srgbClr val="828E87"/>
                </a:solidFill>
                <a:latin typeface="微软雅黑" panose="020B0503020204020204" charset="-122"/>
              </a:defRPr>
            </a:lvl1pPr>
          </a:lstStyle>
          <a:p>
            <a:pPr marL="0" marR="0" algn="r"/>
            <a:r>
              <a:rPr lang="zh-CN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/ 08</a:t>
            </a:r>
            <a:endParaRPr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/>
        </a:solidFill>
        <a:effectLst/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1"/>
          <p:cNvSpPr txBox="1">
            <a:spLocks noGrp="1"/>
          </p:cNvSpPr>
          <p:nvPr/>
        </p:nvSpPr>
        <p:spPr>
          <a:xfrm>
            <a:off x="609600" y="406400"/>
            <a:ext cx="762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zh-CN" sz="24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需求建模：用例图</a:t>
            </a:r>
            <a:endParaRPr lang="zh-CN" sz="24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4" name="Text Box 2"/>
          <p:cNvSpPr txBox="1">
            <a:spLocks noGrp="1"/>
          </p:cNvSpPr>
          <p:nvPr/>
        </p:nvSpPr>
        <p:spPr>
          <a:xfrm>
            <a:off x="8128000" y="508000"/>
            <a:ext cx="34544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r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　UML MODELING</a:t>
            </a:r>
            <a:endParaRPr lang="en-US" sz="11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55" name="Connector"/>
          <p:cNvCxnSpPr/>
          <p:nvPr/>
        </p:nvCxnSpPr>
        <p:spPr>
          <a:xfrm rot="-3978">
            <a:off x="609604" y="1009650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56" name="Auto Shape 4"/>
          <p:cNvSpPr>
            <a:spLocks noGrp="1"/>
          </p:cNvSpPr>
          <p:nvPr/>
        </p:nvSpPr>
        <p:spPr>
          <a:xfrm>
            <a:off x="609600" y="1219200"/>
            <a:ext cx="965200" cy="304800"/>
          </a:xfrm>
          <a:prstGeom prst="roundRect">
            <a:avLst>
              <a:gd name="adj" fmla="val 0"/>
            </a:avLst>
          </a:prstGeom>
          <a:solidFill>
            <a:srgbClr val="0F6E56"/>
          </a:solidFill>
          <a:ln w="127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" name="Text Box 5"/>
          <p:cNvSpPr txBox="1">
            <a:spLocks noGrp="1"/>
          </p:cNvSpPr>
          <p:nvPr/>
        </p:nvSpPr>
        <p:spPr>
          <a:xfrm>
            <a:off x="609600" y="1219200"/>
            <a:ext cx="9652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用例图</a:t>
            </a:r>
            <a:endParaRPr lang="en-US" sz="1200" b="1" i="0" u="none" strike="noStrik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8" name="Auto Shape 9"/>
          <p:cNvSpPr>
            <a:spLocks noGrp="1"/>
          </p:cNvSpPr>
          <p:nvPr/>
        </p:nvSpPr>
        <p:spPr>
          <a:xfrm>
            <a:off x="609600" y="1625600"/>
            <a:ext cx="10972800" cy="2616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C4CFC0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" name="Text Box 11"/>
          <p:cNvSpPr txBox="1">
            <a:spLocks noGrp="1"/>
          </p:cNvSpPr>
          <p:nvPr/>
        </p:nvSpPr>
        <p:spPr>
          <a:xfrm>
            <a:off x="609600" y="4394200"/>
            <a:ext cx="381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用例模型要点</a:t>
            </a:r>
            <a:endParaRPr lang="en-US" sz="13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60" name="Connector"/>
          <p:cNvCxnSpPr/>
          <p:nvPr/>
        </p:nvCxnSpPr>
        <p:spPr>
          <a:xfrm rot="-3978">
            <a:off x="609604" y="6445250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61" name="Text Box 39"/>
          <p:cNvSpPr txBox="1">
            <a:spLocks noGrp="1"/>
          </p:cNvSpPr>
          <p:nvPr/>
        </p:nvSpPr>
        <p:spPr>
          <a:xfrm>
            <a:off x="609600" y="6502400"/>
            <a:ext cx="5080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机器人系统设计与实现　·　软件需求分析</a:t>
            </a:r>
            <a:endParaRPr lang="en-US"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2" name="Text Box 40"/>
          <p:cNvSpPr txBox="1">
            <a:spLocks noGrp="1"/>
          </p:cNvSpPr>
          <p:nvPr/>
        </p:nvSpPr>
        <p:spPr>
          <a:xfrm>
            <a:off x="10414000" y="6502400"/>
            <a:ext cx="11684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r">
              <a:buNone/>
              <a:defRPr sz="1000" b="0" i="0" u="none" strike="noStrike">
                <a:solidFill>
                  <a:srgbClr val="828E87"/>
                </a:solidFill>
                <a:latin typeface="微软雅黑" panose="020B0503020204020204" charset="-122"/>
              </a:defRPr>
            </a:lvl1pPr>
          </a:lstStyle>
          <a:p>
            <a:pPr marL="0" marR="0" algn="r"/>
            <a:r>
              <a:rPr lang="zh-CN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/ 08</a:t>
            </a:r>
            <a:endParaRPr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63" name="图片 62"/>
          <p:cNvPicPr/>
          <p:nvPr/>
        </p:nvPicPr>
        <p:blipFill>
          <a:blip r:embed="rId1"/>
          <a:stretch>
            <a:fillRect/>
          </a:stretch>
        </p:blipFill>
        <p:spPr>
          <a:xfrm>
            <a:off x="685800" y="1701800"/>
            <a:ext cx="10819767" cy="2409190"/>
          </a:xfrm>
          <a:prstGeom prst="rect">
            <a:avLst/>
          </a:prstGeom>
        </p:spPr>
      </p:pic>
      <p:sp>
        <p:nvSpPr>
          <p:cNvPr id="64" name="矩形 63"/>
          <p:cNvSpPr/>
          <p:nvPr/>
        </p:nvSpPr>
        <p:spPr>
          <a:xfrm>
            <a:off x="660400" y="4876800"/>
            <a:ext cx="88900" cy="889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/>
          <a:p/>
        </p:txBody>
      </p:sp>
      <p:sp>
        <p:nvSpPr>
          <p:cNvPr id="65" name="矩形 64"/>
          <p:cNvSpPr/>
          <p:nvPr/>
        </p:nvSpPr>
        <p:spPr>
          <a:xfrm>
            <a:off x="660400" y="5283200"/>
            <a:ext cx="88900" cy="889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/>
          <a:p/>
        </p:txBody>
      </p:sp>
      <p:sp>
        <p:nvSpPr>
          <p:cNvPr id="66" name="矩形 65"/>
          <p:cNvSpPr/>
          <p:nvPr/>
        </p:nvSpPr>
        <p:spPr>
          <a:xfrm>
            <a:off x="660400" y="5689600"/>
            <a:ext cx="88900" cy="889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/>
          <a:p/>
        </p:txBody>
      </p:sp>
      <p:sp>
        <p:nvSpPr>
          <p:cNvPr id="67" name="矩形 66"/>
          <p:cNvSpPr/>
          <p:nvPr/>
        </p:nvSpPr>
        <p:spPr>
          <a:xfrm>
            <a:off x="660400" y="6096000"/>
            <a:ext cx="88900" cy="889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/>
          <a:p/>
        </p:txBody>
      </p:sp>
      <p:sp>
        <p:nvSpPr>
          <p:cNvPr id="68" name="矩形 67"/>
          <p:cNvSpPr/>
          <p:nvPr/>
        </p:nvSpPr>
        <p:spPr>
          <a:xfrm>
            <a:off x="863600" y="47752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</a:rPr>
              <a:t>参与者 3 个：操作者、手机端（蓝牙串口助手）、机器人硬件平台（电机 / 底盘 / 传感器）</a:t>
            </a:r>
            <a:endParaRPr lang="zh-CN" sz="130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63600" y="51816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</a:rPr>
              <a:t>include 主链：启动机器人 → 机器人运行 → 调节速度 → 测量速度</a:t>
            </a:r>
            <a:endParaRPr lang="zh-CN" sz="130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863600" y="55880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</a:rPr>
              <a:t>设定目标速度 include 调节速度；蓝牙遥控 include 建立蓝牙连接</a:t>
            </a:r>
            <a:endParaRPr lang="zh-CN" sz="130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863600" y="59944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</a:rPr>
              <a:t>探测并避障用 extend：仅探测到障碍物时介入，正常运行不触发</a:t>
            </a:r>
            <a:endParaRPr lang="zh-CN" sz="130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/>
        </a:solidFill>
        <a:effectLst/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Box 1"/>
          <p:cNvSpPr txBox="1">
            <a:spLocks noGrp="1"/>
          </p:cNvSpPr>
          <p:nvPr/>
        </p:nvSpPr>
        <p:spPr>
          <a:xfrm>
            <a:off x="609600" y="406400"/>
            <a:ext cx="762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zh-CN" sz="24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需求建模：活动图</a:t>
            </a:r>
            <a:endParaRPr lang="zh-CN" sz="24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4" name="Text Box 2"/>
          <p:cNvSpPr txBox="1">
            <a:spLocks noGrp="1"/>
          </p:cNvSpPr>
          <p:nvPr/>
        </p:nvSpPr>
        <p:spPr>
          <a:xfrm>
            <a:off x="8128000" y="508000"/>
            <a:ext cx="34544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r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　UML MODELING</a:t>
            </a:r>
            <a:endParaRPr lang="en-US" sz="11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75" name="Connector"/>
          <p:cNvCxnSpPr/>
          <p:nvPr/>
        </p:nvCxnSpPr>
        <p:spPr>
          <a:xfrm rot="-3978">
            <a:off x="609604" y="1009650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76" name="Auto Shape 4"/>
          <p:cNvSpPr>
            <a:spLocks noGrp="1"/>
          </p:cNvSpPr>
          <p:nvPr/>
        </p:nvSpPr>
        <p:spPr>
          <a:xfrm>
            <a:off x="609600" y="1219200"/>
            <a:ext cx="965200" cy="304800"/>
          </a:xfrm>
          <a:prstGeom prst="roundRect">
            <a:avLst>
              <a:gd name="adj" fmla="val 0"/>
            </a:avLst>
          </a:prstGeom>
          <a:solidFill>
            <a:srgbClr val="0F6E56"/>
          </a:solidFill>
          <a:ln w="127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" name="Text Box 5"/>
          <p:cNvSpPr txBox="1">
            <a:spLocks noGrp="1"/>
          </p:cNvSpPr>
          <p:nvPr/>
        </p:nvSpPr>
        <p:spPr>
          <a:xfrm>
            <a:off x="609600" y="1219200"/>
            <a:ext cx="9652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zh-CN" sz="1200" b="1" i="0" u="none" strike="noStrike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活动图</a:t>
            </a:r>
            <a:endParaRPr lang="en-US" sz="1200" b="1" i="0" u="none" strike="noStrik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8" name="Auto Shape 9"/>
          <p:cNvSpPr>
            <a:spLocks noGrp="1"/>
          </p:cNvSpPr>
          <p:nvPr/>
        </p:nvSpPr>
        <p:spPr>
          <a:xfrm>
            <a:off x="609600" y="1574800"/>
            <a:ext cx="7374890" cy="4775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C4CFC0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" name="Text Box 11"/>
          <p:cNvSpPr txBox="1">
            <a:spLocks noGrp="1"/>
          </p:cNvSpPr>
          <p:nvPr/>
        </p:nvSpPr>
        <p:spPr>
          <a:xfrm>
            <a:off x="8191500" y="1574800"/>
            <a:ext cx="33909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zh-CN" sz="13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活动图要点</a:t>
            </a:r>
            <a:endParaRPr lang="en-US" sz="13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80" name="Connector"/>
          <p:cNvCxnSpPr/>
          <p:nvPr/>
        </p:nvCxnSpPr>
        <p:spPr>
          <a:xfrm rot="-3978">
            <a:off x="609604" y="6445250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81" name="Text Box 39"/>
          <p:cNvSpPr txBox="1">
            <a:spLocks noGrp="1"/>
          </p:cNvSpPr>
          <p:nvPr/>
        </p:nvSpPr>
        <p:spPr>
          <a:xfrm>
            <a:off x="609600" y="6502400"/>
            <a:ext cx="5080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机器人系统设计与实现　·　软件需求分析</a:t>
            </a:r>
            <a:endParaRPr lang="en-US"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2" name="Text Box 40"/>
          <p:cNvSpPr txBox="1">
            <a:spLocks noGrp="1"/>
          </p:cNvSpPr>
          <p:nvPr/>
        </p:nvSpPr>
        <p:spPr>
          <a:xfrm>
            <a:off x="10414000" y="6502400"/>
            <a:ext cx="11684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r">
              <a:buNone/>
              <a:defRPr sz="1000" b="0" i="0" u="none" strike="noStrike">
                <a:solidFill>
                  <a:srgbClr val="828E87"/>
                </a:solidFill>
                <a:latin typeface="微软雅黑" panose="020B0503020204020204" charset="-122"/>
              </a:defRPr>
            </a:lvl1pPr>
          </a:lstStyle>
          <a:p>
            <a:pPr marL="0" marR="0" algn="r"/>
            <a:r>
              <a:rPr lang="zh-CN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 / 08</a:t>
            </a:r>
            <a:endParaRPr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83" name="图片 82"/>
          <p:cNvPicPr/>
          <p:nvPr/>
        </p:nvPicPr>
        <p:blipFill>
          <a:blip r:embed="rId1"/>
          <a:stretch>
            <a:fillRect/>
          </a:stretch>
        </p:blipFill>
        <p:spPr>
          <a:xfrm>
            <a:off x="685800" y="1651000"/>
            <a:ext cx="7222295" cy="4622800"/>
          </a:xfrm>
          <a:prstGeom prst="rect">
            <a:avLst/>
          </a:prstGeom>
        </p:spPr>
      </p:pic>
      <p:sp>
        <p:nvSpPr>
          <p:cNvPr id="84" name="矩形 83"/>
          <p:cNvSpPr/>
          <p:nvPr/>
        </p:nvSpPr>
        <p:spPr>
          <a:xfrm>
            <a:off x="8242300" y="2247900"/>
            <a:ext cx="88900" cy="889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/>
          <a:p/>
        </p:txBody>
      </p:sp>
      <p:sp>
        <p:nvSpPr>
          <p:cNvPr id="85" name="矩形 84"/>
          <p:cNvSpPr/>
          <p:nvPr/>
        </p:nvSpPr>
        <p:spPr>
          <a:xfrm>
            <a:off x="8242300" y="2933700"/>
            <a:ext cx="88900" cy="889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/>
          <a:p/>
        </p:txBody>
      </p:sp>
      <p:sp>
        <p:nvSpPr>
          <p:cNvPr id="86" name="矩形 85"/>
          <p:cNvSpPr/>
          <p:nvPr/>
        </p:nvSpPr>
        <p:spPr>
          <a:xfrm>
            <a:off x="8242300" y="3619500"/>
            <a:ext cx="88900" cy="889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/>
          <a:p/>
        </p:txBody>
      </p:sp>
      <p:sp>
        <p:nvSpPr>
          <p:cNvPr id="87" name="矩形 86"/>
          <p:cNvSpPr/>
          <p:nvPr/>
        </p:nvSpPr>
        <p:spPr>
          <a:xfrm>
            <a:off x="8242300" y="4305300"/>
            <a:ext cx="88900" cy="889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/>
          <a:p/>
        </p:txBody>
      </p:sp>
      <p:sp>
        <p:nvSpPr>
          <p:cNvPr id="88" name="矩形 87"/>
          <p:cNvSpPr/>
          <p:nvPr/>
        </p:nvSpPr>
        <p:spPr>
          <a:xfrm>
            <a:off x="8242300" y="4991100"/>
            <a:ext cx="88900" cy="889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/>
          <a:p/>
        </p:txBody>
      </p:sp>
      <p:sp>
        <p:nvSpPr>
          <p:cNvPr id="89" name="矩形 88"/>
          <p:cNvSpPr/>
          <p:nvPr/>
        </p:nvSpPr>
        <p:spPr>
          <a:xfrm>
            <a:off x="8242300" y="5676900"/>
            <a:ext cx="88900" cy="889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/>
          <a:p/>
        </p:txBody>
      </p:sp>
      <p:sp>
        <p:nvSpPr>
          <p:cNvPr id="90" name="矩形 89"/>
          <p:cNvSpPr/>
          <p:nvPr/>
        </p:nvSpPr>
        <p:spPr>
          <a:xfrm>
            <a:off x="8445500" y="2133600"/>
            <a:ext cx="3136900" cy="533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</a:rPr>
              <a:t>上电初始化 → 等待启动指令 → 点亮运行指示灯进入运行阶段</a:t>
            </a:r>
            <a:endParaRPr lang="zh-CN" sz="120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8445500" y="2819400"/>
            <a:ext cx="3136900" cy="533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</a:rPr>
              <a:t>运行阶段四类中止事件互斥，同一控制周期至多命中一个，依次检查</a:t>
            </a:r>
            <a:endParaRPr lang="zh-CN" sz="120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8445500" y="3505200"/>
            <a:ext cx="3136900" cy="533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</a:rPr>
              <a:t>停止指令优先级最高：按键与蓝牙通道同等有效</a:t>
            </a:r>
            <a:endParaRPr lang="zh-CN" sz="120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8445500" y="4191000"/>
            <a:ext cx="3136900" cy="533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</a:rPr>
              <a:t>堵转 / 低压 / 编码器无脉冲 → 停止输出并锁存，须长按停止键 3 s 复位</a:t>
            </a:r>
            <a:endParaRPr lang="zh-CN" sz="120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445500" y="4876800"/>
            <a:ext cx="3136900" cy="533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</a:rPr>
              <a:t>避障停车后需障碍移开且满足恢复条件，延时 1 s 恢复运行</a:t>
            </a:r>
            <a:endParaRPr lang="zh-CN" sz="120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445500" y="5562600"/>
            <a:ext cx="3136900" cy="533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</a:rPr>
              <a:t>图中只写“测量车速、调整输出”等结果，不出现 PID——算法属概要设计</a:t>
            </a:r>
            <a:endParaRPr lang="zh-CN" sz="120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/>
        </a:solidFill>
        <a:effectLst/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Box 1"/>
          <p:cNvSpPr txBox="1">
            <a:spLocks noGrp="1"/>
          </p:cNvSpPr>
          <p:nvPr/>
        </p:nvSpPr>
        <p:spPr>
          <a:xfrm>
            <a:off x="609600" y="406400"/>
            <a:ext cx="7874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lnSpc>
                <a:spcPct val="100000"/>
              </a:lnSpc>
              <a:buNone/>
              <a:defRPr sz="2400" b="1" i="0" u="none" strike="noStrike">
                <a:solidFill>
                  <a:srgbClr val="154034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sz="24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功能性需求全览（44 条 FR）</a:t>
            </a:r>
            <a:endParaRPr sz="24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8" name="Text Box 2"/>
          <p:cNvSpPr txBox="1">
            <a:spLocks noGrp="1"/>
          </p:cNvSpPr>
          <p:nvPr/>
        </p:nvSpPr>
        <p:spPr>
          <a:xfrm>
            <a:off x="8128000" y="508000"/>
            <a:ext cx="34544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r">
              <a:lnSpc>
                <a:spcPct val="100000"/>
              </a:lnSpc>
              <a:buNone/>
              <a:defRPr sz="1100" b="0" i="0" u="none" strike="noStrike">
                <a:solidFill>
                  <a:srgbClr val="828E87"/>
                </a:solidFill>
                <a:latin typeface="微软雅黑" panose="020B0503020204020204" charset="-122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sz="11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　FUNCTIONAL REQUIREMENTS</a:t>
            </a:r>
            <a:endParaRPr sz="11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99" name="Connector"/>
          <p:cNvCxnSpPr/>
          <p:nvPr/>
        </p:nvCxnSpPr>
        <p:spPr>
          <a:xfrm rot="-3979">
            <a:off x="609604" y="1009651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100" name="Auto Shape 4"/>
          <p:cNvSpPr>
            <a:spLocks noGrp="1"/>
          </p:cNvSpPr>
          <p:nvPr/>
        </p:nvSpPr>
        <p:spPr>
          <a:xfrm>
            <a:off x="609600" y="1168400"/>
            <a:ext cx="5486400" cy="44196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 cap="flat" cmpd="sng">
            <a:solidFill>
              <a:srgbClr val="DCE4D8"/>
            </a:solidFill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01" name="Auto Shape 5"/>
          <p:cNvSpPr>
            <a:spLocks noGrp="1"/>
          </p:cNvSpPr>
          <p:nvPr/>
        </p:nvSpPr>
        <p:spPr>
          <a:xfrm>
            <a:off x="6248400" y="1168400"/>
            <a:ext cx="5334000" cy="44196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 cap="flat" cmpd="sng">
            <a:solidFill>
              <a:srgbClr val="DCE4D8"/>
            </a:solidFill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02" name="Auto Shape 6"/>
          <p:cNvSpPr>
            <a:spLocks noGrp="1"/>
          </p:cNvSpPr>
          <p:nvPr/>
        </p:nvSpPr>
        <p:spPr>
          <a:xfrm>
            <a:off x="787400" y="12827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03" name="Text Box 7"/>
          <p:cNvSpPr txBox="1">
            <a:spLocks noGrp="1"/>
          </p:cNvSpPr>
          <p:nvPr/>
        </p:nvSpPr>
        <p:spPr>
          <a:xfrm>
            <a:off x="901700" y="1270000"/>
            <a:ext cx="5016500" cy="1092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ts val="1200"/>
              </a:lnSpc>
              <a:buNone/>
              <a:defRPr sz="95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2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运动驱动（FR-01~06）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FR-01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四轮驱动，前进/后退/转向/平移六种运动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FR-02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目标速度可设范围 0.10~0.80 m/s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FR-03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启动后 1.5 s 内进入目标速度 ±5%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FR-04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稳态车速误差 ≤5%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FR-05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速度阶跃超调 ≤10%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FR-06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越界设定拒绝，保持原目标速度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" name="Auto Shape 8"/>
          <p:cNvSpPr>
            <a:spLocks noGrp="1"/>
          </p:cNvSpPr>
          <p:nvPr/>
        </p:nvSpPr>
        <p:spPr>
          <a:xfrm>
            <a:off x="787400" y="24003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05" name="Text Box 9"/>
          <p:cNvSpPr txBox="1">
            <a:spLocks noGrp="1"/>
          </p:cNvSpPr>
          <p:nvPr/>
        </p:nvSpPr>
        <p:spPr>
          <a:xfrm>
            <a:off x="901700" y="2387600"/>
            <a:ext cx="5016500" cy="939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ts val="1200"/>
              </a:lnSpc>
              <a:buNone/>
              <a:defRPr sz="95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2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车速测量（FR-07~11）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FR-07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编码器实时测轮速并换算线速度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FR-08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测速周期 ≤20 ms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FR-09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测速误差：≥0.20 m/s 时 ≤3%，低速段 ≤5%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FR-10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四个车轮分别独立测速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FR-11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通电但车速为 0 超 500 ms 判故障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6" name="Auto Shape 10"/>
          <p:cNvSpPr>
            <a:spLocks noGrp="1"/>
          </p:cNvSpPr>
          <p:nvPr/>
        </p:nvSpPr>
        <p:spPr>
          <a:xfrm>
            <a:off x="787400" y="33655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07" name="Text Box 11"/>
          <p:cNvSpPr txBox="1">
            <a:spLocks noGrp="1"/>
          </p:cNvSpPr>
          <p:nvPr/>
        </p:nvSpPr>
        <p:spPr>
          <a:xfrm>
            <a:off x="901700" y="3352800"/>
            <a:ext cx="5016500" cy="939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ts val="1200"/>
              </a:lnSpc>
              <a:buNone/>
              <a:defRPr sz="95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2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速度闭环调节（FR-12~16）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FR-12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速度调节周期 ≤10 ms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FR-13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收敛时间 ≤1.5 s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FR-14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最大超调 ≤10%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FR-15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负载变化后 1.5 s 内重回误差带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FR-16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越界拒绝并经串口返回错误码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" name="Auto Shape 12"/>
          <p:cNvSpPr>
            <a:spLocks noGrp="1"/>
          </p:cNvSpPr>
          <p:nvPr/>
        </p:nvSpPr>
        <p:spPr>
          <a:xfrm>
            <a:off x="787400" y="43307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09" name="Text Box 13"/>
          <p:cNvSpPr txBox="1">
            <a:spLocks noGrp="1"/>
          </p:cNvSpPr>
          <p:nvPr/>
        </p:nvSpPr>
        <p:spPr>
          <a:xfrm>
            <a:off x="901700" y="4318000"/>
            <a:ext cx="5016500" cy="1244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ts val="1200"/>
              </a:lnSpc>
              <a:buNone/>
              <a:defRPr sz="95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2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按键控制（FR-17~22、FR-44）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FR-17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启动 / 停止按键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FR-18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速度档位切换按键，递增循环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FR-19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按键响应延迟 ≤50 ms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FR-20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按键消抖，无重复响应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FR-21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按键与蓝牙指令同等有效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FR-22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冲突时停止指令最高优先级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FR-44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长按停止键 3 s 执行故障复位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0" name="Auto Shape 14"/>
          <p:cNvSpPr>
            <a:spLocks noGrp="1"/>
          </p:cNvSpPr>
          <p:nvPr/>
        </p:nvSpPr>
        <p:spPr>
          <a:xfrm>
            <a:off x="6426200" y="12827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11" name="Text Box 15"/>
          <p:cNvSpPr txBox="1">
            <a:spLocks noGrp="1"/>
          </p:cNvSpPr>
          <p:nvPr/>
        </p:nvSpPr>
        <p:spPr>
          <a:xfrm>
            <a:off x="6540500" y="1270000"/>
            <a:ext cx="4864100" cy="1092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ts val="1200"/>
              </a:lnSpc>
              <a:buNone/>
              <a:defRPr sz="95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2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状态指示（FR-23~28）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FR-23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四状态对应四只指示灯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FR-24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运行灯常亮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FR-25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停止灯常亮，与运行灯不同只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FR-26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故障灯 2 Hz 闪烁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FR-27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同一时刻至多一只灯点亮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FR-28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识别堵转 / 低压 / 编码器无脉冲故障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2" name="Auto Shape 16"/>
          <p:cNvSpPr>
            <a:spLocks noGrp="1"/>
          </p:cNvSpPr>
          <p:nvPr/>
        </p:nvSpPr>
        <p:spPr>
          <a:xfrm>
            <a:off x="6426200" y="24003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13" name="Text Box 17"/>
          <p:cNvSpPr txBox="1">
            <a:spLocks noGrp="1"/>
          </p:cNvSpPr>
          <p:nvPr/>
        </p:nvSpPr>
        <p:spPr>
          <a:xfrm>
            <a:off x="6540500" y="2387600"/>
            <a:ext cx="4864100" cy="939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ts val="1200"/>
              </a:lnSpc>
              <a:buNone/>
              <a:defRPr sz="95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2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障碍探测与避障（FR-29~33）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FR-29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探测正前方 5~80 cm 障碍物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FR-30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探测周期 ≤20 ms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FR-31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自动减速停车，制动距离 ≤10 cm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FR-32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障碍移开延时 1 s 恢复，须满足三条件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FR-33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边缘来回移动不反复启停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4" name="Auto Shape 18"/>
          <p:cNvSpPr>
            <a:spLocks noGrp="1"/>
          </p:cNvSpPr>
          <p:nvPr/>
        </p:nvSpPr>
        <p:spPr>
          <a:xfrm>
            <a:off x="6426200" y="33655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15" name="Text Box 19"/>
          <p:cNvSpPr txBox="1">
            <a:spLocks noGrp="1"/>
          </p:cNvSpPr>
          <p:nvPr/>
        </p:nvSpPr>
        <p:spPr>
          <a:xfrm>
            <a:off x="6540500" y="3352800"/>
            <a:ext cx="4864100" cy="1092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ts val="1200"/>
              </a:lnSpc>
              <a:buNone/>
              <a:defRPr sz="95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2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蓝牙通信（FR-34~39）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FR-34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蓝牙串口双向连接与数据传输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FR-35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接收附录 B 全部指令并按状态规则执行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FR-36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非法指令返回错误码，状态不变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FR-37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状态查询回传实际车速与系统状态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FR-38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断连后 500 ms 内自动停止电机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FR-39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断连期间仍可被按键操作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6" name="Auto Shape 20"/>
          <p:cNvSpPr>
            <a:spLocks noGrp="1"/>
          </p:cNvSpPr>
          <p:nvPr/>
        </p:nvSpPr>
        <p:spPr>
          <a:xfrm>
            <a:off x="6426200" y="44831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17" name="Text Box 21"/>
          <p:cNvSpPr txBox="1">
            <a:spLocks noGrp="1"/>
          </p:cNvSpPr>
          <p:nvPr/>
        </p:nvSpPr>
        <p:spPr>
          <a:xfrm>
            <a:off x="6540500" y="4470400"/>
            <a:ext cx="4864100" cy="787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ts val="1200"/>
              </a:lnSpc>
              <a:buNone/>
              <a:defRPr sz="95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2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调试信息输出（FR-40~43）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FR-40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串口周期输出运行数据 10 次/秒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FR-41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单条含当前车速、目标车速、系统状态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FR-42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数据格式稳定，字段顺序固定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00"/>
              </a:lnSpc>
            </a:pPr>
            <a:r>
              <a:rPr sz="95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FR-43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异常时附加错误标志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8" name="Auto Shape 22"/>
          <p:cNvSpPr>
            <a:spLocks noGrp="1"/>
          </p:cNvSpPr>
          <p:nvPr/>
        </p:nvSpPr>
        <p:spPr>
          <a:xfrm>
            <a:off x="609600" y="5638800"/>
            <a:ext cx="10972800" cy="45720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2700" cap="flat" cmpd="sng">
            <a:solidFill>
              <a:srgbClr val="0F6E56"/>
            </a:solidFill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19" name="Text Box 23"/>
          <p:cNvSpPr txBox="1">
            <a:spLocks noGrp="1"/>
          </p:cNvSpPr>
          <p:nvPr/>
        </p:nvSpPr>
        <p:spPr>
          <a:xfrm>
            <a:off x="762000" y="5676900"/>
            <a:ext cx="10668000" cy="2286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buNone/>
              <a:defRPr sz="1200" b="1" i="0" u="none" strike="noStrike">
                <a:solidFill>
                  <a:srgbClr val="154034"/>
                </a:solidFill>
                <a:latin typeface="微软雅黑" panose="020B0503020204020204" charset="-122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zh-CN" sz="12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44 条 FR 均可验证、可追溯</a:t>
            </a:r>
            <a:endParaRPr sz="12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0" name="Text Box 24"/>
          <p:cNvSpPr txBox="1">
            <a:spLocks noGrp="1"/>
          </p:cNvSpPr>
          <p:nvPr/>
        </p:nvSpPr>
        <p:spPr>
          <a:xfrm>
            <a:off x="762000" y="5892800"/>
            <a:ext cx="10668000" cy="177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4D5A53"/>
                </a:solidFill>
                <a:latin typeface="微软雅黑" panose="020B0503020204020204" charset="-122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zh-CN" sz="9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逐条原文、追溯来源与验证方法见需求分析报告第 4 章与附录 A</a:t>
            </a:r>
            <a:endParaRPr sz="9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21" name="Connector"/>
          <p:cNvCxnSpPr/>
          <p:nvPr/>
        </p:nvCxnSpPr>
        <p:spPr>
          <a:xfrm rot="-3979">
            <a:off x="609604" y="6445251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122" name="Text Box 26"/>
          <p:cNvSpPr txBox="1">
            <a:spLocks noGrp="1"/>
          </p:cNvSpPr>
          <p:nvPr/>
        </p:nvSpPr>
        <p:spPr>
          <a:xfrm>
            <a:off x="609600" y="6502400"/>
            <a:ext cx="5080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lnSpc>
                <a:spcPct val="100000"/>
              </a:lnSpc>
              <a:buNone/>
              <a:defRPr sz="1000" b="0" i="0" u="none" strike="noStrike">
                <a:solidFill>
                  <a:srgbClr val="828E8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机器人系统设计与实现　·　软件需求分析</a:t>
            </a:r>
            <a:endParaRPr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3" name="Text Box 27"/>
          <p:cNvSpPr txBox="1">
            <a:spLocks noGrp="1"/>
          </p:cNvSpPr>
          <p:nvPr/>
        </p:nvSpPr>
        <p:spPr>
          <a:xfrm>
            <a:off x="10414000" y="6502400"/>
            <a:ext cx="11684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r">
              <a:lnSpc>
                <a:spcPct val="100000"/>
              </a:lnSpc>
              <a:buNone/>
              <a:defRPr sz="1000" b="0" i="0" u="none" strike="noStrike">
                <a:solidFill>
                  <a:srgbClr val="828E87"/>
                </a:solidFill>
                <a:latin typeface="微软雅黑" panose="020B0503020204020204" charset="-122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zh-CN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 / 08</a:t>
            </a:r>
            <a:endParaRPr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/>
        </a:solidFill>
        <a:effectLst/>
      </p:bgPr>
    </p:bg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Box 1"/>
          <p:cNvSpPr txBox="1">
            <a:spLocks noGrp="1"/>
          </p:cNvSpPr>
          <p:nvPr/>
        </p:nvSpPr>
        <p:spPr>
          <a:xfrm>
            <a:off x="609600" y="406400"/>
            <a:ext cx="7874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lnSpc>
                <a:spcPct val="100000"/>
              </a:lnSpc>
              <a:buNone/>
              <a:defRPr sz="2400" b="1" i="0" u="none" strike="noStrike">
                <a:solidFill>
                  <a:srgbClr val="154034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sz="24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非功能性需求全览（18 条 NFR）</a:t>
            </a:r>
            <a:endParaRPr sz="24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6" name="Text Box 2"/>
          <p:cNvSpPr txBox="1">
            <a:spLocks noGrp="1"/>
          </p:cNvSpPr>
          <p:nvPr/>
        </p:nvSpPr>
        <p:spPr>
          <a:xfrm>
            <a:off x="8128000" y="508000"/>
            <a:ext cx="34544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r">
              <a:lnSpc>
                <a:spcPct val="100000"/>
              </a:lnSpc>
              <a:buNone/>
              <a:defRPr sz="1100" b="0" i="0" u="none" strike="noStrike">
                <a:solidFill>
                  <a:srgbClr val="828E87"/>
                </a:solidFill>
                <a:latin typeface="微软雅黑" panose="020B0503020204020204" charset="-122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sz="11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　NON-FUNCTIONAL REQUIREMENTS</a:t>
            </a:r>
            <a:endParaRPr sz="11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27" name="Connector"/>
          <p:cNvCxnSpPr/>
          <p:nvPr/>
        </p:nvCxnSpPr>
        <p:spPr>
          <a:xfrm rot="-3979">
            <a:off x="609604" y="1009651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128" name="Auto Shape 4"/>
          <p:cNvSpPr>
            <a:spLocks noGrp="1"/>
          </p:cNvSpPr>
          <p:nvPr/>
        </p:nvSpPr>
        <p:spPr>
          <a:xfrm>
            <a:off x="609600" y="1219200"/>
            <a:ext cx="6705600" cy="41656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 cap="flat" cmpd="sng">
            <a:solidFill>
              <a:srgbClr val="DCE4D8"/>
            </a:solidFill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29" name="Auto Shape 5"/>
          <p:cNvSpPr>
            <a:spLocks noGrp="1"/>
          </p:cNvSpPr>
          <p:nvPr/>
        </p:nvSpPr>
        <p:spPr>
          <a:xfrm>
            <a:off x="787400" y="13335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30" name="Text Box 6"/>
          <p:cNvSpPr txBox="1">
            <a:spLocks noGrp="1"/>
          </p:cNvSpPr>
          <p:nvPr/>
        </p:nvSpPr>
        <p:spPr>
          <a:xfrm>
            <a:off x="901700" y="1320800"/>
            <a:ext cx="6235700" cy="1143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buNone/>
              <a:defRPr sz="100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3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性能需求（NFR-01~06）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NFR-01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控制周期抖动 ≤±1 ms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NFR-02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单次闭环“采样—计算—输出”耗时 ≤2 ms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NFR-03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上电就绪时间 ≤2 s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NFR-04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按键响应延迟 ≤50 ms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NFR-05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蓝牙指令从发送到执行延迟 ≤200 ms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NFR-06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避障探测到停转延迟 ≤100 ms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1" name="Auto Shape 7"/>
          <p:cNvSpPr>
            <a:spLocks noGrp="1"/>
          </p:cNvSpPr>
          <p:nvPr/>
        </p:nvSpPr>
        <p:spPr>
          <a:xfrm>
            <a:off x="787400" y="25019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32" name="Text Box 8"/>
          <p:cNvSpPr txBox="1">
            <a:spLocks noGrp="1"/>
          </p:cNvSpPr>
          <p:nvPr/>
        </p:nvSpPr>
        <p:spPr>
          <a:xfrm>
            <a:off x="901700" y="2489200"/>
            <a:ext cx="6235700" cy="1143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buNone/>
              <a:defRPr sz="100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3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安全措施需求（NFR-07~12）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NFR-07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电池电压 &lt;9.9 V 时低压告警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NFR-08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电压 &lt;9.0 V 时停电机并进入故障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NFR-09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低压故障锁存，不因电压波动反复启停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NFR-10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蓝牙断连自动停车（同 FR-38）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NFR-11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电机堵转超 500 ms 停止输出并进故障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NFR-12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停止指令最高优先级（按键 / 蓝牙）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3" name="Auto Shape 9"/>
          <p:cNvSpPr>
            <a:spLocks noGrp="1"/>
          </p:cNvSpPr>
          <p:nvPr/>
        </p:nvSpPr>
        <p:spPr>
          <a:xfrm>
            <a:off x="787400" y="36703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34" name="Text Box 10"/>
          <p:cNvSpPr txBox="1">
            <a:spLocks noGrp="1"/>
          </p:cNvSpPr>
          <p:nvPr/>
        </p:nvSpPr>
        <p:spPr>
          <a:xfrm>
            <a:off x="901700" y="3657600"/>
            <a:ext cx="6235700" cy="66675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buNone/>
              <a:defRPr sz="100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3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安全性需求（NFR-13~15）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NFR-13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复位或初始化期间电机驱动输出关闭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NFR-14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故障灯保持闪烁，直至人工复位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NFR-15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单一异常指令不导致不可恢复状态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5" name="Auto Shape 11"/>
          <p:cNvSpPr>
            <a:spLocks noGrp="1"/>
          </p:cNvSpPr>
          <p:nvPr/>
        </p:nvSpPr>
        <p:spPr>
          <a:xfrm>
            <a:off x="787400" y="436245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36" name="Text Box 12"/>
          <p:cNvSpPr txBox="1">
            <a:spLocks noGrp="1"/>
          </p:cNvSpPr>
          <p:nvPr/>
        </p:nvSpPr>
        <p:spPr>
          <a:xfrm>
            <a:off x="901700" y="4349750"/>
            <a:ext cx="6235700" cy="66675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buNone/>
              <a:defRPr sz="100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3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软件质量属性（NFR-16~18）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NFR-16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连续运行 ≥30 min 无死机、复位或失稳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NFR-17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目标速度参数可独立修改，不影响其他模块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25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NFR-18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可隔离软件故障不影响其他模块服务</a:t>
            </a:r>
            <a:endParaRPr sz="100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7" name="Auto Shape 13"/>
          <p:cNvSpPr>
            <a:spLocks noGrp="1"/>
          </p:cNvSpPr>
          <p:nvPr/>
        </p:nvSpPr>
        <p:spPr>
          <a:xfrm>
            <a:off x="7518400" y="1219200"/>
            <a:ext cx="4064000" cy="2286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ap="flat" cmpd="sng">
            <a:solidFill>
              <a:srgbClr val="DCE4D8"/>
            </a:solidFill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38" name="Auto Shape 14"/>
          <p:cNvSpPr>
            <a:spLocks noGrp="1"/>
          </p:cNvSpPr>
          <p:nvPr/>
        </p:nvSpPr>
        <p:spPr>
          <a:xfrm>
            <a:off x="7696200" y="13716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39" name="Text Box 15"/>
          <p:cNvSpPr txBox="1">
            <a:spLocks noGrp="1"/>
          </p:cNvSpPr>
          <p:nvPr/>
        </p:nvSpPr>
        <p:spPr>
          <a:xfrm>
            <a:off x="7810500" y="1346200"/>
            <a:ext cx="3594100" cy="177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lnSpc>
                <a:spcPts val="1300"/>
              </a:lnSpc>
              <a:buNone/>
              <a:defRPr sz="1000" b="1" i="0" u="none" strike="noStrike">
                <a:solidFill>
                  <a:srgbClr val="0F6E56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3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四种互斥运行状态（BR-05）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0" name="Text Box 16"/>
          <p:cNvSpPr txBox="1">
            <a:spLocks noGrp="1"/>
          </p:cNvSpPr>
          <p:nvPr/>
        </p:nvSpPr>
        <p:spPr>
          <a:xfrm>
            <a:off x="7810500" y="1574800"/>
            <a:ext cx="3594100" cy="1143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ts val="1700"/>
              </a:lnSpc>
              <a:buNone/>
              <a:defRPr sz="100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7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就绪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运行：</a:t>
            </a:r>
            <a:r>
              <a:rPr sz="10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启动指令</a:t>
            </a:r>
            <a:endParaRPr sz="10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7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运行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停止：</a:t>
            </a:r>
            <a:r>
              <a:rPr sz="10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停止指令</a:t>
            </a:r>
            <a:endParaRPr sz="10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7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停止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运行：</a:t>
            </a:r>
            <a:r>
              <a:rPr sz="10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再次启动</a:t>
            </a:r>
            <a:endParaRPr sz="10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7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运行态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故障：</a:t>
            </a:r>
            <a:r>
              <a:rPr sz="10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堵转 / 低压 / 编码器无脉冲</a:t>
            </a:r>
            <a:endParaRPr sz="10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7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故障</a:t>
            </a:r>
            <a:r>
              <a:rPr sz="100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就绪：</a:t>
            </a:r>
            <a:r>
              <a:rPr sz="10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长按停止键 3 s（唯一复位）</a:t>
            </a:r>
            <a:endParaRPr sz="10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41" name="Connector"/>
          <p:cNvCxnSpPr/>
          <p:nvPr/>
        </p:nvCxnSpPr>
        <p:spPr>
          <a:xfrm rot="-12147">
            <a:off x="7810511" y="2762252"/>
            <a:ext cx="35941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142" name="Text Box 18"/>
          <p:cNvSpPr txBox="1">
            <a:spLocks noGrp="1"/>
          </p:cNvSpPr>
          <p:nvPr/>
        </p:nvSpPr>
        <p:spPr>
          <a:xfrm>
            <a:off x="7810500" y="2844800"/>
            <a:ext cx="35941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ts val="1500"/>
              </a:lnSpc>
              <a:buNone/>
              <a:defRPr sz="950" b="0" i="0" u="none" strike="noStrike">
                <a:solidFill>
                  <a:srgbClr val="4D5A53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500"/>
              </a:lnSpc>
            </a:pPr>
            <a:r>
              <a:rPr sz="95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指示灯与四状态一一对应，同一时刻至多一只灯点亮；故障态锁存，不自动退出</a:t>
            </a:r>
            <a:endParaRPr sz="95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3" name="Auto Shape 19"/>
          <p:cNvSpPr>
            <a:spLocks noGrp="1"/>
          </p:cNvSpPr>
          <p:nvPr/>
        </p:nvSpPr>
        <p:spPr>
          <a:xfrm>
            <a:off x="7518400" y="3657600"/>
            <a:ext cx="4064000" cy="1727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 cap="flat" cmpd="sng">
            <a:solidFill>
              <a:srgbClr val="DCE4D8"/>
            </a:solidFill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44" name="Auto Shape 20"/>
          <p:cNvSpPr>
            <a:spLocks noGrp="1"/>
          </p:cNvSpPr>
          <p:nvPr/>
        </p:nvSpPr>
        <p:spPr>
          <a:xfrm>
            <a:off x="7696200" y="3810000"/>
            <a:ext cx="50800" cy="1270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25400" cap="flat" cmpd="sng">
            <a:noFill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45" name="Text Box 21"/>
          <p:cNvSpPr txBox="1">
            <a:spLocks noGrp="1"/>
          </p:cNvSpPr>
          <p:nvPr/>
        </p:nvSpPr>
        <p:spPr>
          <a:xfrm>
            <a:off x="7810500" y="3784600"/>
            <a:ext cx="3594100" cy="177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lnSpc>
                <a:spcPts val="1300"/>
              </a:lnSpc>
              <a:buNone/>
              <a:defRPr sz="1000" b="1" i="0" u="none" strike="noStrike">
                <a:solidFill>
                  <a:srgbClr val="0F6E56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300"/>
              </a:lnSpc>
            </a:pPr>
            <a:r>
              <a:rPr sz="1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需求条目的四个特征</a:t>
            </a:r>
            <a:endParaRPr sz="1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" name="Text Box 22"/>
          <p:cNvSpPr txBox="1">
            <a:spLocks noGrp="1"/>
          </p:cNvSpPr>
          <p:nvPr/>
        </p:nvSpPr>
        <p:spPr>
          <a:xfrm>
            <a:off x="7810500" y="4013200"/>
            <a:ext cx="3594100" cy="1016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ts val="1900"/>
              </a:lnSpc>
              <a:buNone/>
              <a:defRPr sz="950" i="0" u="none" strike="noStrike">
                <a:solidFill>
                  <a:srgbClr val="1F2A2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900"/>
              </a:lnSpc>
            </a:pPr>
            <a:r>
              <a:rPr sz="95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量化：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模糊目标转为可测量指标（如 ±5%）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900"/>
              </a:lnSpc>
            </a:pPr>
            <a:r>
              <a:rPr sz="95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边界：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明确取值范围（0.10~0.80 m/s）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900"/>
              </a:lnSpc>
            </a:pPr>
            <a:r>
              <a:rPr sz="95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异常：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越界拒绝、断连停车、堵转锁存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>
              <a:lnSpc>
                <a:spcPts val="1900"/>
              </a:lnSpc>
            </a:pPr>
            <a:r>
              <a:rPr sz="95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验证：</a:t>
            </a:r>
            <a:r>
              <a:rPr sz="950" b="0" i="0" u="none" strike="noStrike" spc="0">
                <a:solidFill>
                  <a:srgbClr val="1F2A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每条附独立验证方法</a:t>
            </a:r>
            <a:endParaRPr sz="950" b="0" i="0" u="none" strike="noStrike" spc="0">
              <a:solidFill>
                <a:srgbClr val="1F2A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" name="Text Box 23"/>
          <p:cNvSpPr txBox="1">
            <a:spLocks noGrp="1"/>
          </p:cNvSpPr>
          <p:nvPr/>
        </p:nvSpPr>
        <p:spPr>
          <a:xfrm>
            <a:off x="7810500" y="5054600"/>
            <a:ext cx="3594100" cy="203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lnSpc>
                <a:spcPts val="1400"/>
              </a:lnSpc>
              <a:buNone/>
              <a:defRPr sz="950" b="0" i="0" u="none" strike="noStrike">
                <a:solidFill>
                  <a:srgbClr val="4D5A53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ts val="1400"/>
              </a:lnSpc>
            </a:pPr>
            <a:r>
              <a:rPr sz="95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追踪：每条需求对应用例与验证方法（附录 A）</a:t>
            </a:r>
            <a:endParaRPr sz="95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" name="Auto Shape 24"/>
          <p:cNvSpPr>
            <a:spLocks noGrp="1"/>
          </p:cNvSpPr>
          <p:nvPr/>
        </p:nvSpPr>
        <p:spPr>
          <a:xfrm>
            <a:off x="609600" y="5562600"/>
            <a:ext cx="10972800" cy="520700"/>
          </a:xfrm>
          <a:prstGeom prst="roundRect">
            <a:avLst>
              <a:gd name="adj" fmla="val 14634"/>
            </a:avLst>
          </a:prstGeom>
          <a:solidFill>
            <a:srgbClr val="E1F5EE"/>
          </a:solidFill>
          <a:ln w="12700" cap="flat" cmpd="sng">
            <a:solidFill>
              <a:srgbClr val="0F6E56"/>
            </a:solidFill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>
            <a:lvl1pPr/>
          </a:lstStyle>
          <a:p>
            <a:pPr algn="ctr"/>
          </a:p>
        </p:txBody>
      </p:sp>
      <p:sp>
        <p:nvSpPr>
          <p:cNvPr id="149" name="Text Box 25"/>
          <p:cNvSpPr txBox="1">
            <a:spLocks noGrp="1"/>
          </p:cNvSpPr>
          <p:nvPr/>
        </p:nvSpPr>
        <p:spPr>
          <a:xfrm>
            <a:off x="762000" y="5626100"/>
            <a:ext cx="10668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buNone/>
              <a:defRPr sz="1300" b="1" i="0" u="none" strike="noStrike">
                <a:solidFill>
                  <a:srgbClr val="154034"/>
                </a:solidFill>
                <a:latin typeface="微软雅黑" panose="020B0503020204020204" charset="-122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sz="13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18 条 NFR 与 44 条 FR 共同构成完整需求规格：可验证、可追溯</a:t>
            </a:r>
            <a:endParaRPr sz="13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" name="Text Box 26"/>
          <p:cNvSpPr txBox="1">
            <a:spLocks noGrp="1"/>
          </p:cNvSpPr>
          <p:nvPr/>
        </p:nvSpPr>
        <p:spPr>
          <a:xfrm>
            <a:off x="762000" y="5867400"/>
            <a:ext cx="10668000" cy="1905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buNone/>
              <a:defRPr sz="950" b="0" i="0" u="none" strike="noStrike">
                <a:solidFill>
                  <a:srgbClr val="4D5A53"/>
                </a:solidFill>
                <a:latin typeface="微软雅黑" panose="020B0503020204020204" charset="-122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sz="95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逐条原文与验证方法见需求分析报告第 5 章</a:t>
            </a:r>
            <a:endParaRPr sz="95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51" name="Connector"/>
          <p:cNvCxnSpPr/>
          <p:nvPr/>
        </p:nvCxnSpPr>
        <p:spPr>
          <a:xfrm rot="-3979">
            <a:off x="609604" y="6445251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152" name="Text Box 28"/>
          <p:cNvSpPr txBox="1">
            <a:spLocks noGrp="1"/>
          </p:cNvSpPr>
          <p:nvPr/>
        </p:nvSpPr>
        <p:spPr>
          <a:xfrm>
            <a:off x="609600" y="6502400"/>
            <a:ext cx="5080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lnSpc>
                <a:spcPct val="100000"/>
              </a:lnSpc>
              <a:buNone/>
              <a:defRPr sz="1000" b="0" i="0" u="none" strike="noStrike">
                <a:solidFill>
                  <a:srgbClr val="828E87"/>
                </a:solidFill>
                <a:latin typeface="微软雅黑" panose="020B0503020204020204" charset="-122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机器人系统设计与实现　·　软件需求分析</a:t>
            </a:r>
            <a:endParaRPr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3" name="Text Box 29"/>
          <p:cNvSpPr txBox="1">
            <a:spLocks noGrp="1"/>
          </p:cNvSpPr>
          <p:nvPr/>
        </p:nvSpPr>
        <p:spPr>
          <a:xfrm>
            <a:off x="10414000" y="6502400"/>
            <a:ext cx="11684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r">
              <a:lnSpc>
                <a:spcPct val="100000"/>
              </a:lnSpc>
              <a:buNone/>
              <a:defRPr sz="1000" b="0" i="0" u="none" strike="noStrike">
                <a:solidFill>
                  <a:srgbClr val="828E87"/>
                </a:solidFill>
                <a:latin typeface="微软雅黑" panose="020B0503020204020204" charset="-122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zh-CN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 / 08</a:t>
            </a:r>
            <a:endParaRPr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/>
        </a:solidFill>
        <a:effectLst/>
      </p:bgPr>
    </p:bg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Box 1"/>
          <p:cNvSpPr txBox="1">
            <a:spLocks noGrp="1"/>
          </p:cNvSpPr>
          <p:nvPr/>
        </p:nvSpPr>
        <p:spPr>
          <a:xfrm>
            <a:off x="609600" y="406400"/>
            <a:ext cx="7620000" cy="508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24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小结</a:t>
            </a:r>
            <a:endParaRPr lang="en-US" sz="24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6" name="Text Box 2"/>
          <p:cNvSpPr txBox="1">
            <a:spLocks noGrp="1"/>
          </p:cNvSpPr>
          <p:nvPr/>
        </p:nvSpPr>
        <p:spPr>
          <a:xfrm>
            <a:off x="8128000" y="508000"/>
            <a:ext cx="34544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r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　SUMMARY</a:t>
            </a:r>
            <a:endParaRPr lang="en-US" sz="11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57" name="Connector"/>
          <p:cNvCxnSpPr/>
          <p:nvPr/>
        </p:nvCxnSpPr>
        <p:spPr>
          <a:xfrm rot="-3978">
            <a:off x="609604" y="1009650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158" name="Text Box 4"/>
          <p:cNvSpPr txBox="1">
            <a:spLocks noGrp="1"/>
          </p:cNvSpPr>
          <p:nvPr/>
        </p:nvSpPr>
        <p:spPr>
          <a:xfrm>
            <a:off x="609600" y="1270000"/>
            <a:ext cx="10972800" cy="3302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一条主线：从原始设想，到可验证、可追溯的需求规格</a:t>
            </a:r>
            <a:endParaRPr lang="en-US" sz="14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9" name="Auto Shape 5"/>
          <p:cNvSpPr>
            <a:spLocks noGrp="1"/>
          </p:cNvSpPr>
          <p:nvPr/>
        </p:nvSpPr>
        <p:spPr>
          <a:xfrm>
            <a:off x="1079500" y="1854200"/>
            <a:ext cx="2921000" cy="1905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DCE4D8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Auto Shape 6"/>
          <p:cNvSpPr>
            <a:spLocks noGrp="1"/>
          </p:cNvSpPr>
          <p:nvPr/>
        </p:nvSpPr>
        <p:spPr>
          <a:xfrm>
            <a:off x="1079500" y="1854200"/>
            <a:ext cx="2921000" cy="406400"/>
          </a:xfrm>
          <a:prstGeom prst="roundRect">
            <a:avLst>
              <a:gd name="adj" fmla="val 0"/>
            </a:avLst>
          </a:prstGeom>
          <a:solidFill>
            <a:srgbClr val="0F6E56"/>
          </a:solidFill>
          <a:ln w="127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1" name="Text Box 7"/>
          <p:cNvSpPr txBox="1">
            <a:spLocks noGrp="1"/>
          </p:cNvSpPr>
          <p:nvPr/>
        </p:nvSpPr>
        <p:spPr>
          <a:xfrm>
            <a:off x="1079500" y="1854200"/>
            <a:ext cx="2921000" cy="406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原始需求</a:t>
            </a:r>
            <a:endParaRPr lang="en-US" sz="1300" b="1" i="0" u="none" strike="noStrik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2" name="Text Box 8"/>
          <p:cNvSpPr txBox="1">
            <a:spLocks noGrp="1"/>
          </p:cNvSpPr>
          <p:nvPr/>
        </p:nvSpPr>
        <p:spPr>
          <a:xfrm>
            <a:off x="1079500" y="2362200"/>
            <a:ext cx="2921000" cy="787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44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</a:t>
            </a:r>
            <a:endParaRPr lang="en-US" sz="44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3" name="Text Box 9"/>
          <p:cNvSpPr txBox="1">
            <a:spLocks noGrp="1"/>
          </p:cNvSpPr>
          <p:nvPr/>
        </p:nvSpPr>
        <p:spPr>
          <a:xfrm>
            <a:off x="1231900" y="3200400"/>
            <a:ext cx="2616200" cy="431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08000"/>
              </a:lnSpc>
            </a:pPr>
            <a:r>
              <a:rPr lang="en-US" sz="12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条口头设想，混合目标与手段</a:t>
            </a:r>
            <a:endParaRPr lang="en-US" sz="12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4" name="Auto Shape 10"/>
          <p:cNvSpPr>
            <a:spLocks noGrp="1"/>
          </p:cNvSpPr>
          <p:nvPr/>
        </p:nvSpPr>
        <p:spPr>
          <a:xfrm>
            <a:off x="4635500" y="1854200"/>
            <a:ext cx="2921000" cy="1905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DCE4D8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Auto Shape 11"/>
          <p:cNvSpPr>
            <a:spLocks noGrp="1"/>
          </p:cNvSpPr>
          <p:nvPr/>
        </p:nvSpPr>
        <p:spPr>
          <a:xfrm>
            <a:off x="4635500" y="1854200"/>
            <a:ext cx="2921000" cy="406400"/>
          </a:xfrm>
          <a:prstGeom prst="roundRect">
            <a:avLst>
              <a:gd name="adj" fmla="val 0"/>
            </a:avLst>
          </a:prstGeom>
          <a:solidFill>
            <a:srgbClr val="0F6E56"/>
          </a:solidFill>
          <a:ln w="127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Text Box 12"/>
          <p:cNvSpPr txBox="1">
            <a:spLocks noGrp="1"/>
          </p:cNvSpPr>
          <p:nvPr/>
        </p:nvSpPr>
        <p:spPr>
          <a:xfrm>
            <a:off x="4635500" y="1854200"/>
            <a:ext cx="2921000" cy="406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需求建模</a:t>
            </a:r>
            <a:endParaRPr lang="en-US" sz="1300" b="1" i="0" u="none" strike="noStrik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7" name="Text Box 13"/>
          <p:cNvSpPr txBox="1">
            <a:spLocks noGrp="1"/>
          </p:cNvSpPr>
          <p:nvPr/>
        </p:nvSpPr>
        <p:spPr>
          <a:xfrm>
            <a:off x="4635500" y="2362200"/>
            <a:ext cx="2921000" cy="787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zh-CN" sz="44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</a:t>
            </a:r>
            <a:endParaRPr lang="en-US" sz="44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8" name="Text Box 14"/>
          <p:cNvSpPr txBox="1">
            <a:spLocks noGrp="1"/>
          </p:cNvSpPr>
          <p:nvPr/>
        </p:nvSpPr>
        <p:spPr>
          <a:xfrm>
            <a:off x="4787900" y="3200400"/>
            <a:ext cx="2616200" cy="431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08000"/>
              </a:lnSpc>
            </a:pPr>
            <a:r>
              <a:rPr lang="en-US" sz="12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个用例 + 用例图 / 活动图 / 状态图</a:t>
            </a:r>
            <a:endParaRPr lang="en-US" sz="12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9" name="Auto Shape 15"/>
          <p:cNvSpPr>
            <a:spLocks noGrp="1"/>
          </p:cNvSpPr>
          <p:nvPr/>
        </p:nvSpPr>
        <p:spPr>
          <a:xfrm>
            <a:off x="8191500" y="1854200"/>
            <a:ext cx="2921000" cy="1905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>
            <a:solidFill>
              <a:srgbClr val="DCE4D8"/>
            </a:solidFill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0" name="Auto Shape 16"/>
          <p:cNvSpPr>
            <a:spLocks noGrp="1"/>
          </p:cNvSpPr>
          <p:nvPr/>
        </p:nvSpPr>
        <p:spPr>
          <a:xfrm>
            <a:off x="8191500" y="1854200"/>
            <a:ext cx="2921000" cy="406400"/>
          </a:xfrm>
          <a:prstGeom prst="roundRect">
            <a:avLst>
              <a:gd name="adj" fmla="val 0"/>
            </a:avLst>
          </a:prstGeom>
          <a:solidFill>
            <a:srgbClr val="0F6E56"/>
          </a:solidFill>
          <a:ln w="12700" cap="flat" cmpd="sng">
            <a:noFill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1" name="Text Box 17"/>
          <p:cNvSpPr txBox="1">
            <a:spLocks noGrp="1"/>
          </p:cNvSpPr>
          <p:nvPr/>
        </p:nvSpPr>
        <p:spPr>
          <a:xfrm>
            <a:off x="8191500" y="1854200"/>
            <a:ext cx="2921000" cy="406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需求规格</a:t>
            </a:r>
            <a:endParaRPr lang="en-US" sz="1300" b="1" i="0" u="none" strike="noStrik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2" name="Text Box 18"/>
          <p:cNvSpPr txBox="1">
            <a:spLocks noGrp="1"/>
          </p:cNvSpPr>
          <p:nvPr/>
        </p:nvSpPr>
        <p:spPr>
          <a:xfrm>
            <a:off x="8191500" y="2362200"/>
            <a:ext cx="2921000" cy="787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40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44 + 18</a:t>
            </a:r>
            <a:endParaRPr lang="en-US" sz="40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3" name="Text Box 19"/>
          <p:cNvSpPr txBox="1">
            <a:spLocks noGrp="1"/>
          </p:cNvSpPr>
          <p:nvPr/>
        </p:nvSpPr>
        <p:spPr>
          <a:xfrm>
            <a:off x="8343900" y="3200400"/>
            <a:ext cx="2616200" cy="431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08000"/>
              </a:lnSpc>
            </a:pPr>
            <a:r>
              <a:rPr lang="en-US" sz="1200" b="0" i="0" u="none" strike="noStrike" spc="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条功能性需求 + 条非功能性需求</a:t>
            </a:r>
            <a:endParaRPr lang="en-US" sz="1200" b="0" i="0" u="none" strike="noStrike" spc="0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74" name="Connector"/>
          <p:cNvCxnSpPr/>
          <p:nvPr/>
        </p:nvCxnSpPr>
        <p:spPr>
          <a:xfrm rot="-78117">
            <a:off x="4025972" y="2800350"/>
            <a:ext cx="5588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0F6E56"/>
            </a:solidFill>
            <a:round/>
            <a:tailEnd type="arrow" w="med" len="sm"/>
          </a:ln>
        </p:spPr>
      </p:cxnSp>
      <p:cxnSp>
        <p:nvCxnSpPr>
          <p:cNvPr id="175" name="Connector"/>
          <p:cNvCxnSpPr/>
          <p:nvPr/>
        </p:nvCxnSpPr>
        <p:spPr>
          <a:xfrm rot="-78117">
            <a:off x="7581972" y="2800350"/>
            <a:ext cx="558800" cy="12700"/>
          </a:xfrm>
          <a:prstGeom prst="straightConnector1">
            <a:avLst/>
          </a:prstGeom>
          <a:solidFill>
            <a:srgbClr val="DEE0E3"/>
          </a:solidFill>
          <a:ln w="25400" cap="flat" cmpd="sng">
            <a:solidFill>
              <a:srgbClr val="0F6E56"/>
            </a:solidFill>
            <a:round/>
            <a:tailEnd type="arrow" w="med" len="sm"/>
          </a:ln>
        </p:spPr>
      </p:cxnSp>
      <p:cxnSp>
        <p:nvCxnSpPr>
          <p:cNvPr id="176" name="Connector"/>
          <p:cNvCxnSpPr/>
          <p:nvPr/>
        </p:nvCxnSpPr>
        <p:spPr>
          <a:xfrm rot="-21485">
            <a:off x="2540020" y="4184650"/>
            <a:ext cx="2032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cxnSp>
        <p:nvCxnSpPr>
          <p:cNvPr id="177" name="Connector"/>
          <p:cNvCxnSpPr/>
          <p:nvPr/>
        </p:nvCxnSpPr>
        <p:spPr>
          <a:xfrm rot="-21485">
            <a:off x="7620020" y="4184650"/>
            <a:ext cx="20320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178" name="Text Box 24"/>
          <p:cNvSpPr txBox="1">
            <a:spLocks noGrp="1"/>
          </p:cNvSpPr>
          <p:nvPr/>
        </p:nvSpPr>
        <p:spPr>
          <a:xfrm>
            <a:off x="4826000" y="4038600"/>
            <a:ext cx="2540000" cy="3048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 心 认 识</a:t>
            </a:r>
            <a:endParaRPr lang="en-US" sz="12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9" name="Text Box 25"/>
          <p:cNvSpPr txBox="1">
            <a:spLocks noGrp="1"/>
          </p:cNvSpPr>
          <p:nvPr/>
        </p:nvSpPr>
        <p:spPr>
          <a:xfrm>
            <a:off x="1016000" y="4521200"/>
            <a:ext cx="10160000" cy="889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18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需求只规定系统应达到什么结果，不规定用什么手段达到；</a:t>
            </a:r>
            <a:endParaRPr lang="en-US" sz="18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ctr">
              <a:lnSpc>
                <a:spcPct val="125000"/>
              </a:lnSpc>
            </a:pPr>
            <a:r>
              <a:rPr lang="en-US" sz="1800" b="1" i="0" u="none" strike="noStrike" spc="0">
                <a:solidFill>
                  <a:srgbClr val="1540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所有需求可验证、可追溯。</a:t>
            </a:r>
            <a:endParaRPr lang="en-US" sz="1800" b="1" i="0" u="none" strike="noStrike" spc="0">
              <a:solidFill>
                <a:srgbClr val="1540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0" name="Text Box 26"/>
          <p:cNvSpPr txBox="1">
            <a:spLocks noGrp="1"/>
          </p:cNvSpPr>
          <p:nvPr/>
        </p:nvSpPr>
        <p:spPr>
          <a:xfrm>
            <a:off x="609600" y="5689600"/>
            <a:ext cx="10972800" cy="4064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ctr">
              <a:lnSpc>
                <a:spcPct val="125000"/>
              </a:lnSpc>
            </a:pPr>
            <a:r>
              <a:rPr lang="en-US" sz="1800" b="1" i="0" u="none" strike="noStrike" spc="0">
                <a:solidFill>
                  <a:srgbClr val="0F6E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谢谢！</a:t>
            </a:r>
            <a:endParaRPr lang="en-US" sz="1800" b="1" i="0" u="none" strike="noStrike" spc="0">
              <a:solidFill>
                <a:srgbClr val="0F6E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81" name="Connector"/>
          <p:cNvCxnSpPr/>
          <p:nvPr/>
        </p:nvCxnSpPr>
        <p:spPr>
          <a:xfrm rot="-3978">
            <a:off x="609604" y="6445250"/>
            <a:ext cx="10972800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C4CFC0"/>
            </a:solidFill>
            <a:round/>
          </a:ln>
        </p:spPr>
      </p:cxnSp>
      <p:sp>
        <p:nvSpPr>
          <p:cNvPr id="182" name="Text Box 28"/>
          <p:cNvSpPr txBox="1">
            <a:spLocks noGrp="1"/>
          </p:cNvSpPr>
          <p:nvPr/>
        </p:nvSpPr>
        <p:spPr>
          <a:xfrm>
            <a:off x="609600" y="6502400"/>
            <a:ext cx="50800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>
            <a:noAutofit/>
          </a:bodyPr>
          <a:lstStyle>
            <a:lvl1pPr/>
          </a:lstStyle>
          <a:p>
            <a:pPr marL="0" marR="0" algn="l">
              <a:lnSpc>
                <a:spcPct val="125000"/>
              </a:lnSpc>
            </a:pPr>
            <a:r>
              <a:rPr lang="en-US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机器人系统设计与实现　·　软件需求分析</a:t>
            </a:r>
            <a:endParaRPr lang="en-US"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3" name="Text Box 29"/>
          <p:cNvSpPr txBox="1">
            <a:spLocks noGrp="1"/>
          </p:cNvSpPr>
          <p:nvPr/>
        </p:nvSpPr>
        <p:spPr>
          <a:xfrm>
            <a:off x="10414000" y="6502400"/>
            <a:ext cx="1168400" cy="254000"/>
          </a:xfrm>
          <a:prstGeom prst="rect">
            <a:avLst/>
          </a:prstGeom>
          <a:noFill/>
          <a:ln w="12700" cap="flat" cmpd="sng">
            <a:noFill/>
            <a:round/>
          </a:ln>
        </p:spPr>
        <p:txBody>
          <a:bodyPr vert="horz" wrap="none" lIns="0" tIns="0" rIns="0" bIns="0" rtlCol="0" anchor="ctr" anchorCtr="0">
            <a:noAutofit/>
          </a:bodyPr>
          <a:lstStyle>
            <a:lvl1pPr algn="r">
              <a:buNone/>
              <a:defRPr sz="1000" b="0" i="0" u="none" strike="noStrike">
                <a:solidFill>
                  <a:srgbClr val="828E87"/>
                </a:solidFill>
                <a:latin typeface="微软雅黑" panose="020B0503020204020204" charset="-122"/>
              </a:defRPr>
            </a:lvl1pPr>
          </a:lstStyle>
          <a:p>
            <a:pPr marL="0" marR="0" algn="r"/>
            <a:r>
              <a:rPr lang="zh-CN" sz="1000" b="0" i="0" u="none" strike="noStrike" spc="0">
                <a:solidFill>
                  <a:srgbClr val="828E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08 / 08</a:t>
            </a:r>
            <a:endParaRPr sz="1000" b="0" i="0" u="none" strike="noStrike" spc="0">
              <a:solidFill>
                <a:srgbClr val="828E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3389</Words>
  <Application>WPS 演示</Application>
  <PresentationFormat/>
  <Paragraphs>357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Arial Unicode MS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WPS_1657019685</cp:lastModifiedBy>
  <cp:revision>2</cp:revision>
  <dcterms:created xsi:type="dcterms:W3CDTF">2026-10-16T06:34:24Z</dcterms:created>
  <dcterms:modified xsi:type="dcterms:W3CDTF">2026-10-16T06:35:14Z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09E6699F8F6B46ED822A84ABFF8EAB21_12</vt:lpwstr>
  </property>
  <property fmtid="{D5CDD505-2E9C-101B-9397-08002B2CF9AE}" pid="3" name="KSOProductBuildVer">
    <vt:lpwstr>2052-12.1.0.29161</vt:lpwstr>
  </property>
</Properties>
</file>